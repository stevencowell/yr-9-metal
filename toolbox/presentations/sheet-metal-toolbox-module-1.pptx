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47180298e6456e" /><Relationship Type="http://schemas.openxmlformats.org/officeDocument/2006/relationships/extended-properties" Target="/docProps/app.xml" Id="Rfe823110406d4018" /><Relationship Type="http://schemas.openxmlformats.org/officeDocument/2006/relationships/officeDocument" Target="/ppt/presentation.xml" Id="R8f0155f864804761" /></Relationships>
</file>

<file path=ppt/presentation.xml><?xml version="1.0" encoding="utf-8"?>
<p:presentation xmlns:p="http://schemas.openxmlformats.org/presentationml/2006/main">
  <p:sldMasterIdLst>
    <p:sldMasterId xmlns:r="http://schemas.openxmlformats.org/officeDocument/2006/relationships" id="2147483648" r:id="R91e1eb090c43492a"/>
  </p:sldMasterIdLst>
  <p:notesMasterIdLst>
    <p:notesMasterId xmlns:r="http://schemas.openxmlformats.org/officeDocument/2006/relationships" r:id="R1b1cc78e1e86439d"/>
  </p:notesMasterIdLst>
  <p:sldIdLst>
    <p:sldId xmlns:r="http://schemas.openxmlformats.org/officeDocument/2006/relationships" id="256" r:id="Ra85aefb057924028"/>
    <p:sldId xmlns:r="http://schemas.openxmlformats.org/officeDocument/2006/relationships" id="257" r:id="R8ad20d8672f24029"/>
    <p:sldId xmlns:r="http://schemas.openxmlformats.org/officeDocument/2006/relationships" id="258" r:id="R841851e996a74689"/>
    <p:sldId xmlns:r="http://schemas.openxmlformats.org/officeDocument/2006/relationships" id="259" r:id="R3af516c729bf4fde"/>
    <p:sldId xmlns:r="http://schemas.openxmlformats.org/officeDocument/2006/relationships" id="260" r:id="Ra6e89245fa5346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9a48e6b5e549ed" /><Relationship Type="http://schemas.openxmlformats.org/officeDocument/2006/relationships/slideMaster" Target="/ppt/slideMasters/slideMaster1.xml" Id="R91e1eb090c43492a" /><Relationship Type="http://schemas.openxmlformats.org/officeDocument/2006/relationships/notesMaster" Target="/ppt/notesMasters/notesMaster1.xml" Id="R1b1cc78e1e86439d" /><Relationship Type="http://schemas.openxmlformats.org/officeDocument/2006/relationships/presProps" Target="/ppt/presProps.xml" Id="R05395e2927e345e4" /><Relationship Type="http://schemas.openxmlformats.org/officeDocument/2006/relationships/tableStyles" Target="/ppt/tableStyles.xml" Id="R4389f91dedf74b98" /><Relationship Type="http://schemas.openxmlformats.org/officeDocument/2006/relationships/slide" Target="/ppt/slides/slide1.xml" Id="Ra85aefb057924028" /><Relationship Type="http://schemas.openxmlformats.org/officeDocument/2006/relationships/slide" Target="/ppt/slides/slide2.xml" Id="R8ad20d8672f24029" /><Relationship Type="http://schemas.openxmlformats.org/officeDocument/2006/relationships/slide" Target="/ppt/slides/slide3.xml" Id="R841851e996a74689" /><Relationship Type="http://schemas.openxmlformats.org/officeDocument/2006/relationships/slide" Target="/ppt/slides/slide4.xml" Id="R3af516c729bf4fde" /><Relationship Type="http://schemas.openxmlformats.org/officeDocument/2006/relationships/slide" Target="/ppt/slides/slide5.xml" Id="Ra6e89245fa5346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6a7dc02ccc44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44ef70b8c74d8e" /><Relationship Type="http://schemas.openxmlformats.org/officeDocument/2006/relationships/notesMaster" Target="/ppt/notesMasters/notesMaster1.xml" Id="Ra27fe75e3ee14c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725fe7e1ff4d38" /><Relationship Type="http://schemas.openxmlformats.org/officeDocument/2006/relationships/notesMaster" Target="/ppt/notesMasters/notesMaster1.xml" Id="R51741007289a4a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3a396830064f28" /><Relationship Type="http://schemas.openxmlformats.org/officeDocument/2006/relationships/notesMaster" Target="/ppt/notesMasters/notesMaster1.xml" Id="R925d21df0b8a4e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def1aded5e4eb4" /><Relationship Type="http://schemas.openxmlformats.org/officeDocument/2006/relationships/notesMaster" Target="/ppt/notesMasters/notesMaster1.xml" Id="Rbe62b9adf64449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2347d90008448a" /><Relationship Type="http://schemas.openxmlformats.org/officeDocument/2006/relationships/notesMaster" Target="/ppt/notesMasters/notesMaster1.xml" Id="R6185ca6762e745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762032ca874c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797abff98b4a2b" /><Relationship Type="http://schemas.openxmlformats.org/officeDocument/2006/relationships/slideLayout" Target="/ppt/slideLayouts/slideLayout1.xml" Id="Rd4d616c0a7884d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d616c0a7884d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74c6a7ccf84aa7" /><Relationship Type="http://schemas.openxmlformats.org/officeDocument/2006/relationships/image" Target="/ppt/media/image.bin" Id="R22cd3f4e02a945b8" /><Relationship Type="http://schemas.openxmlformats.org/officeDocument/2006/relationships/notesSlide" Target="/ppt/notesSlides/notesSlide1.xml" Id="R8050d02d761f46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582e7fe8aa4e86" /><Relationship Type="http://schemas.openxmlformats.org/officeDocument/2006/relationships/notesSlide" Target="/ppt/notesSlides/notesSlide2.xml" Id="Reb341508a9ea42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1af20b3e0945c6" /><Relationship Type="http://schemas.openxmlformats.org/officeDocument/2006/relationships/notesSlide" Target="/ppt/notesSlides/notesSlide3.xml" Id="R3f40b8e5d92b47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3aa18eeb494f76" /><Relationship Type="http://schemas.openxmlformats.org/officeDocument/2006/relationships/notesSlide" Target="/ppt/notesSlides/notesSlide4.xml" Id="R08307bd27f384d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2a184fad184fef" /><Relationship Type="http://schemas.openxmlformats.org/officeDocument/2006/relationships/image" Target="/ppt/media/image.png" Id="R6627909f15224b19" /><Relationship Type="http://schemas.openxmlformats.org/officeDocument/2006/relationships/notesSlide" Target="/ppt/notesSlides/notesSlide5.xml" Id="Rd62afdf82d4f4e3d"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2cd3f4e02a945b8"/>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F3C8AF57-453E-42F7-AC07-090F6F50B102}"/>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58D38D6C-FC43-4C8D-A8E0-D722CACA674C}"/>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1 · WEEKS 1–2</a:t>
            </a:r>
          </a:p>
        </p:txBody>
      </p:sp>
      <p:sp>
        <p:nvSpPr>
          <p:cNvPr id="4" name="module-title">
            <a:extLst xmlns:a="http://schemas.openxmlformats.org/drawingml/2006/main">
              <a:ext uri="{FF2B5EF4-FFF2-40B4-BE49-F238E27FC236}">
                <a16:creationId xmlns:a16="http://schemas.microsoft.com/office/drawing/2014/main" id="{8C61475C-E760-4179-8BFF-D673EA607DA5}"/>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Workshop systems and risk management</a:t>
            </a:r>
          </a:p>
        </p:txBody>
      </p:sp>
      <p:sp>
        <p:nvSpPr>
          <p:cNvPr id="5" name="module-summary">
            <a:extLst xmlns:a="http://schemas.openxmlformats.org/drawingml/2006/main">
              <a:ext uri="{FF2B5EF4-FFF2-40B4-BE49-F238E27FC236}">
                <a16:creationId xmlns:a16="http://schemas.microsoft.com/office/drawing/2014/main" id="{34712BD9-01B7-4F03-A073-56FAB84450DA}"/>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Treat safety as a continuous process: identify hazards, judge risk, apply stronger controls and stop when conditions change.</a:t>
            </a:r>
          </a:p>
        </p:txBody>
      </p:sp>
      <p:sp>
        <p:nvSpPr>
          <p:cNvPr id="6" name="sequence">
            <a:extLst xmlns:a="http://schemas.openxmlformats.org/drawingml/2006/main">
              <a:ext uri="{FF2B5EF4-FFF2-40B4-BE49-F238E27FC236}">
                <a16:creationId xmlns:a16="http://schemas.microsoft.com/office/drawing/2014/main" id="{1E9A7C6F-441E-4A48-9754-A5C7B409028E}"/>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244210425"/>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AB87B844-85DA-4961-B589-98E8409CFDAE}"/>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1</a:t>
            </a:r>
          </a:p>
        </p:txBody>
      </p:sp>
      <p:sp>
        <p:nvSpPr>
          <p:cNvPr id="2" name="slide-label">
            <a:extLst xmlns:a="http://schemas.openxmlformats.org/drawingml/2006/main">
              <a:ext uri="{FF2B5EF4-FFF2-40B4-BE49-F238E27FC236}">
                <a16:creationId xmlns:a16="http://schemas.microsoft.com/office/drawing/2014/main" id="{70810659-9E29-44B0-A16A-B3F40E095D90}"/>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9E6B7905-1109-4FBA-8F2D-FC2D0C4E84A9}"/>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Risk management is a process, not a poster</a:t>
            </a:r>
          </a:p>
        </p:txBody>
      </p:sp>
      <p:sp>
        <p:nvSpPr>
          <p:cNvPr id="4" name="understand-label">
            <a:extLst xmlns:a="http://schemas.openxmlformats.org/drawingml/2006/main">
              <a:ext uri="{FF2B5EF4-FFF2-40B4-BE49-F238E27FC236}">
                <a16:creationId xmlns:a16="http://schemas.microsoft.com/office/drawing/2014/main" id="{760B026F-FDB4-4E84-A841-4F661E0E4F2C}"/>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C3EA2220-A5CB-4992-A447-61E302564E1F}"/>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Risk management begins before any cutting, forming, drilling or assembly starts. First, identify hazards in the task, work area, material, tools and the behaviour of people nearby. Then consider how likely each hazard is to cause harm and how serious the consequence could be. A low-likelihood hazard with a severe possible injury still needs careful control. Use teacher-issued plans, classroom controls and demonstrations to decide what applies at each project stage.</a:t>
            </a:r>
          </a:p>
        </p:txBody>
      </p:sp>
      <p:sp>
        <p:nvSpPr>
          <p:cNvPr id="6" name="apply-label">
            <a:extLst xmlns:a="http://schemas.openxmlformats.org/drawingml/2006/main">
              <a:ext uri="{FF2B5EF4-FFF2-40B4-BE49-F238E27FC236}">
                <a16:creationId xmlns:a16="http://schemas.microsoft.com/office/drawing/2014/main" id="{2778A863-7197-4110-B2DF-6496EB56B7A6}"/>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B4E043D7-7562-42C9-BE6C-43E60FE0DEB1}"/>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Controls should follow the hierarchy: eliminate where possible, then substitute, isolate, use engineering controls, apply administrative controls and finally use personal protective equipment. PPE matters, but it is the final layer, not the whole plan. If a guard, material position, floor condition or work zone changes, stop, make the area safe and seek teacher direction before continuing.</a:t>
            </a:r>
          </a:p>
        </p:txBody>
      </p:sp>
      <p:sp>
        <p:nvSpPr>
          <p:cNvPr id="8" name="key-point">
            <a:extLst xmlns:a="http://schemas.openxmlformats.org/drawingml/2006/main">
              <a:ext uri="{FF2B5EF4-FFF2-40B4-BE49-F238E27FC236}">
                <a16:creationId xmlns:a16="http://schemas.microsoft.com/office/drawing/2014/main" id="{9A0257AE-1577-4DA1-BAC6-4648B34068ED}"/>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988005F7-1D1F-4DD2-8B4B-52C75E31E3EF}"/>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Risk management is continuous: identify, assess, control and review.</a:t>
            </a:r>
          </a:p>
        </p:txBody>
      </p:sp>
      <p:sp>
        <p:nvSpPr>
          <p:cNvPr id="10" name="source-boundary">
            <a:extLst xmlns:a="http://schemas.openxmlformats.org/drawingml/2006/main">
              <a:ext uri="{FF2B5EF4-FFF2-40B4-BE49-F238E27FC236}">
                <a16:creationId xmlns:a16="http://schemas.microsoft.com/office/drawing/2014/main" id="{737F99F4-95F2-4B3E-973A-6EAE63C5527D}"/>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620722762"/>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7239126C-C14E-4191-90D3-9C3BC44EF2B0}"/>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1</a:t>
            </a:r>
          </a:p>
        </p:txBody>
      </p:sp>
      <p:sp>
        <p:nvSpPr>
          <p:cNvPr id="2" name="slide-label">
            <a:extLst xmlns:a="http://schemas.openxmlformats.org/drawingml/2006/main">
              <a:ext uri="{FF2B5EF4-FFF2-40B4-BE49-F238E27FC236}">
                <a16:creationId xmlns:a16="http://schemas.microsoft.com/office/drawing/2014/main" id="{564388D9-C92D-4661-B289-2818D86037C3}"/>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801568D2-3047-48AD-82A2-19CD15C5B649}"/>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Safe workshop practices</a:t>
            </a:r>
          </a:p>
        </p:txBody>
      </p:sp>
      <p:sp>
        <p:nvSpPr>
          <p:cNvPr id="4" name="understand-label">
            <a:extLst xmlns:a="http://schemas.openxmlformats.org/drawingml/2006/main">
              <a:ext uri="{FF2B5EF4-FFF2-40B4-BE49-F238E27FC236}">
                <a16:creationId xmlns:a16="http://schemas.microsoft.com/office/drawing/2014/main" id="{54D431D7-52D1-4417-8B45-1044538F4689}"/>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D8AEFB42-F234-47C7-891A-88B903AF938C}"/>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 safe workshop begins with attention and housekeeping. Follow signage, return material to the correct storage area and keep benches and walkways clear of offcuts. Wear the PPE directed for the task, secure loose hair and clothing, and stay aware of others.</a:t>
            </a:r>
          </a:p>
        </p:txBody>
      </p:sp>
      <p:sp>
        <p:nvSpPr>
          <p:cNvPr id="6" name="apply-label">
            <a:extLst xmlns:a="http://schemas.openxmlformats.org/drawingml/2006/main">
              <a:ext uri="{FF2B5EF4-FFF2-40B4-BE49-F238E27FC236}">
                <a16:creationId xmlns:a16="http://schemas.microsoft.com/office/drawing/2014/main" id="{976E9E03-69A3-4CEE-B96B-C4AA99BC17F6}"/>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AD91A00E-6DC3-4A4F-9784-220860DBC5EC}"/>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Machine permission applies to the trained person, approved machine, demonstrated setup and current task. Do not use a machine when tired, distracted, unsupervised or when the setup differs from the demonstration.</a:t>
            </a:r>
          </a:p>
        </p:txBody>
      </p:sp>
      <p:sp>
        <p:nvSpPr>
          <p:cNvPr id="8" name="key-point">
            <a:extLst xmlns:a="http://schemas.openxmlformats.org/drawingml/2006/main">
              <a:ext uri="{FF2B5EF4-FFF2-40B4-BE49-F238E27FC236}">
                <a16:creationId xmlns:a16="http://schemas.microsoft.com/office/drawing/2014/main" id="{FE87308D-9565-433C-89A9-6015FDAB66EF}"/>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95AAC9FE-BA20-4136-9D7B-6D03284E3DB8}"/>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Good housekeeping removes hazards before PPE is needed.</a:t>
            </a:r>
          </a:p>
        </p:txBody>
      </p:sp>
      <p:sp>
        <p:nvSpPr>
          <p:cNvPr id="10" name="source-boundary">
            <a:extLst xmlns:a="http://schemas.openxmlformats.org/drawingml/2006/main">
              <a:ext uri="{FF2B5EF4-FFF2-40B4-BE49-F238E27FC236}">
                <a16:creationId xmlns:a16="http://schemas.microsoft.com/office/drawing/2014/main" id="{6FAC99E5-BE2F-443B-8DC5-682662AD72D6}"/>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130446170"/>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6544FE91-7681-4A98-A89A-FC6D6C101BDD}"/>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1</a:t>
            </a:r>
          </a:p>
        </p:txBody>
      </p:sp>
      <p:sp>
        <p:nvSpPr>
          <p:cNvPr id="2" name="slide-label">
            <a:extLst xmlns:a="http://schemas.openxmlformats.org/drawingml/2006/main">
              <a:ext uri="{FF2B5EF4-FFF2-40B4-BE49-F238E27FC236}">
                <a16:creationId xmlns:a16="http://schemas.microsoft.com/office/drawing/2014/main" id="{9470D7B2-F43E-4A96-97F9-8FD354A71DE9}"/>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41BE281A-4FB5-455E-9F6E-C3E4ED00DC64}"/>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Incident response and reporting</a:t>
            </a:r>
          </a:p>
        </p:txBody>
      </p:sp>
      <p:sp>
        <p:nvSpPr>
          <p:cNvPr id="4" name="understand-label">
            <a:extLst xmlns:a="http://schemas.openxmlformats.org/drawingml/2006/main">
              <a:ext uri="{FF2B5EF4-FFF2-40B4-BE49-F238E27FC236}">
                <a16:creationId xmlns:a16="http://schemas.microsoft.com/office/drawing/2014/main" id="{F6319718-37C7-4EA3-A5D6-91BFE5E4061A}"/>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8A6506E0-795E-41EE-80A6-D8DAB17D1ADC}"/>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If an incident or near miss occurs, stop work, make the immediate area safe and alert the teacher. Do not move equipment, material or an injured person unless directed or required to prevent further harm.</a:t>
            </a:r>
          </a:p>
        </p:txBody>
      </p:sp>
      <p:sp>
        <p:nvSpPr>
          <p:cNvPr id="6" name="apply-label">
            <a:extLst xmlns:a="http://schemas.openxmlformats.org/drawingml/2006/main">
              <a:ext uri="{FF2B5EF4-FFF2-40B4-BE49-F238E27FC236}">
                <a16:creationId xmlns:a16="http://schemas.microsoft.com/office/drawing/2014/main" id="{4C53E387-426B-4E68-A196-9534969D3460}"/>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CBD3D224-7B34-4EE1-A4C4-457E3AF74761}"/>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Report near misses as well as injuries. A near miss provides evidence that a control may have failed and allows the class to improve the system before someone is hurt.</a:t>
            </a:r>
          </a:p>
        </p:txBody>
      </p:sp>
      <p:sp>
        <p:nvSpPr>
          <p:cNvPr id="8" name="key-point">
            <a:extLst xmlns:a="http://schemas.openxmlformats.org/drawingml/2006/main">
              <a:ext uri="{FF2B5EF4-FFF2-40B4-BE49-F238E27FC236}">
                <a16:creationId xmlns:a16="http://schemas.microsoft.com/office/drawing/2014/main" id="{41EFB350-165A-490B-8075-A1F6E6864B17}"/>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63657910-95C9-45B0-B9B9-A7C0A128C2DB}"/>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Report the event, the conditions and the control that needs review.</a:t>
            </a:r>
          </a:p>
        </p:txBody>
      </p:sp>
      <p:sp>
        <p:nvSpPr>
          <p:cNvPr id="10" name="source-boundary">
            <a:extLst xmlns:a="http://schemas.openxmlformats.org/drawingml/2006/main">
              <a:ext uri="{FF2B5EF4-FFF2-40B4-BE49-F238E27FC236}">
                <a16:creationId xmlns:a16="http://schemas.microsoft.com/office/drawing/2014/main" id="{783C7203-F0FA-4784-BF35-4D5BF3CE4801}"/>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505026939"/>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08D32546-75FC-46F1-BBCF-DF0977F7D5C0}"/>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SHEET-METAL TOOLBOX · MODULE 1</a:t>
            </a:r>
          </a:p>
        </p:txBody>
      </p:sp>
      <p:sp>
        <p:nvSpPr>
          <p:cNvPr id="2" name="slide-label">
            <a:extLst xmlns:a="http://schemas.openxmlformats.org/drawingml/2006/main">
              <a:ext uri="{FF2B5EF4-FFF2-40B4-BE49-F238E27FC236}">
                <a16:creationId xmlns:a16="http://schemas.microsoft.com/office/drawing/2014/main" id="{FB38CAAB-7773-481E-9D8A-6DE70436420D}"/>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5162D148-CC5D-4C8E-B921-CC777617F6D1}"/>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1ADC7A90-21E3-400D-A96B-300D2008EFD5}"/>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Choose one stage from the teacher-issued project plans. Identify one possible hazard, describe its likelihood and consequence, and explain which hierarchy-of-controls measures should be used before work begins.</a:t>
            </a:r>
          </a:p>
        </p:txBody>
      </p:sp>
      <p:sp>
        <p:nvSpPr>
          <p:cNvPr id="5" name="evidence-reminder">
            <a:extLst xmlns:a="http://schemas.openxmlformats.org/drawingml/2006/main">
              <a:ext uri="{FF2B5EF4-FFF2-40B4-BE49-F238E27FC236}">
                <a16:creationId xmlns:a16="http://schemas.microsoft.com/office/drawing/2014/main" id="{3140FB7C-54E9-4F88-B210-8FA3C18A02B6}"/>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627909f15224b19"/>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80A8F4B3-7427-4787-A3C8-460F7875E706}"/>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8EB43145-F122-49AD-84A6-4CBFC4E23CC7}"/>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sheet-metal toolbox drawings, demonstrations and workshop instructions for every practical step.</a:t>
            </a:r>
          </a:p>
        </p:txBody>
      </p:sp>
    </p:spTree>
    <p:extLst>
      <p:ext uri="{BB962C8B-B14F-4D97-AF65-F5344CB8AC3E}">
        <p14:creationId xmlns:p14="http://schemas.microsoft.com/office/powerpoint/2010/main" val="15569249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2026-08-15T12:46:20.1960000Z</dcterms:created>
  <dcterms:modified xsi:type="dcterms:W3CDTF">2026-08-15T12:46:20.1960000Z</dcterms:modified>
</coreProperties>
</file>