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4c8d8c917474055" /><Relationship Type="http://schemas.openxmlformats.org/officeDocument/2006/relationships/extended-properties" Target="/docProps/app.xml" Id="Rf2e57210c7384a2e" /><Relationship Type="http://schemas.openxmlformats.org/officeDocument/2006/relationships/officeDocument" Target="/ppt/presentation.xml" Id="Re922dff94a4a407e" /></Relationships>
</file>

<file path=ppt/presentation.xml><?xml version="1.0" encoding="utf-8"?>
<p:presentation xmlns:p="http://schemas.openxmlformats.org/presentationml/2006/main">
  <p:sldMasterIdLst>
    <p:sldMasterId xmlns:r="http://schemas.openxmlformats.org/officeDocument/2006/relationships" id="2147483648" r:id="Re12a152560004098"/>
  </p:sldMasterIdLst>
  <p:notesMasterIdLst>
    <p:notesMasterId xmlns:r="http://schemas.openxmlformats.org/officeDocument/2006/relationships" r:id="R38015c8cc4bb4f85"/>
  </p:notesMasterIdLst>
  <p:sldIdLst>
    <p:sldId xmlns:r="http://schemas.openxmlformats.org/officeDocument/2006/relationships" id="256" r:id="R11c5d8483aa84542"/>
    <p:sldId xmlns:r="http://schemas.openxmlformats.org/officeDocument/2006/relationships" id="257" r:id="Rebbacd0773924fb9"/>
    <p:sldId xmlns:r="http://schemas.openxmlformats.org/officeDocument/2006/relationships" id="258" r:id="Ra166230d38c143b6"/>
    <p:sldId xmlns:r="http://schemas.openxmlformats.org/officeDocument/2006/relationships" id="259" r:id="R56cc84fca5f34db6"/>
    <p:sldId xmlns:r="http://schemas.openxmlformats.org/officeDocument/2006/relationships" id="260" r:id="R6d4ef7fcb91446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1f99445a3441fa" /><Relationship Type="http://schemas.openxmlformats.org/officeDocument/2006/relationships/slideMaster" Target="/ppt/slideMasters/slideMaster1.xml" Id="Re12a152560004098" /><Relationship Type="http://schemas.openxmlformats.org/officeDocument/2006/relationships/notesMaster" Target="/ppt/notesMasters/notesMaster1.xml" Id="R38015c8cc4bb4f85" /><Relationship Type="http://schemas.openxmlformats.org/officeDocument/2006/relationships/presProps" Target="/ppt/presProps.xml" Id="R24ecb1919caf40a4" /><Relationship Type="http://schemas.openxmlformats.org/officeDocument/2006/relationships/tableStyles" Target="/ppt/tableStyles.xml" Id="Rb3bcec3555a84867" /><Relationship Type="http://schemas.openxmlformats.org/officeDocument/2006/relationships/slide" Target="/ppt/slides/slide1.xml" Id="R11c5d8483aa84542" /><Relationship Type="http://schemas.openxmlformats.org/officeDocument/2006/relationships/slide" Target="/ppt/slides/slide2.xml" Id="Rebbacd0773924fb9" /><Relationship Type="http://schemas.openxmlformats.org/officeDocument/2006/relationships/slide" Target="/ppt/slides/slide3.xml" Id="Ra166230d38c143b6" /><Relationship Type="http://schemas.openxmlformats.org/officeDocument/2006/relationships/slide" Target="/ppt/slides/slide4.xml" Id="R56cc84fca5f34db6" /><Relationship Type="http://schemas.openxmlformats.org/officeDocument/2006/relationships/slide" Target="/ppt/slides/slide5.xml" Id="R6d4ef7fcb91446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4fc6b9161e4f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182ca940354081" /><Relationship Type="http://schemas.openxmlformats.org/officeDocument/2006/relationships/notesMaster" Target="/ppt/notesMasters/notesMaster1.xml" Id="R07a950c7bda746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f9f75f453046ba" /><Relationship Type="http://schemas.openxmlformats.org/officeDocument/2006/relationships/notesMaster" Target="/ppt/notesMasters/notesMaster1.xml" Id="Ra94bf660d96b49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39d836f7aa94894" /><Relationship Type="http://schemas.openxmlformats.org/officeDocument/2006/relationships/notesMaster" Target="/ppt/notesMasters/notesMaster1.xml" Id="Rcf610ec22aac4e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0508f0c0d1948ec" /><Relationship Type="http://schemas.openxmlformats.org/officeDocument/2006/relationships/notesMaster" Target="/ppt/notesMasters/notesMaster1.xml" Id="R1f0ea5b66c37457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aecc6df7c644c0" /><Relationship Type="http://schemas.openxmlformats.org/officeDocument/2006/relationships/notesMaster" Target="/ppt/notesMasters/notesMaster1.xml" Id="R2e640f4d40ff49c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d3ed9a2cb042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37dcfa865b4937" /><Relationship Type="http://schemas.openxmlformats.org/officeDocument/2006/relationships/slideLayout" Target="/ppt/slideLayouts/slideLayout1.xml" Id="Rff10d8ccd6d1463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10d8ccd6d146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8b891d3c8c441b9" /><Relationship Type="http://schemas.openxmlformats.org/officeDocument/2006/relationships/image" Target="/ppt/media/image.bin" Id="Rf4be0daa7c294c43" /><Relationship Type="http://schemas.openxmlformats.org/officeDocument/2006/relationships/notesSlide" Target="/ppt/notesSlides/notesSlide1.xml" Id="R84c4fca4f2584d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5a0b64a589844dd" /><Relationship Type="http://schemas.openxmlformats.org/officeDocument/2006/relationships/notesSlide" Target="/ppt/notesSlides/notesSlide2.xml" Id="Ra2d07529642b4e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8ce33c630634b38" /><Relationship Type="http://schemas.openxmlformats.org/officeDocument/2006/relationships/notesSlide" Target="/ppt/notesSlides/notesSlide3.xml" Id="R0d34e9851f044a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712772955ab4191" /><Relationship Type="http://schemas.openxmlformats.org/officeDocument/2006/relationships/notesSlide" Target="/ppt/notesSlides/notesSlide4.xml" Id="Ra27a2c9b52bc46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60c242ddaa84515" /><Relationship Type="http://schemas.openxmlformats.org/officeDocument/2006/relationships/image" Target="/ppt/media/image.png" Id="R11b510be05ed4d82" /><Relationship Type="http://schemas.openxmlformats.org/officeDocument/2006/relationships/notesSlide" Target="/ppt/notesSlides/notesSlide5.xml" Id="R5fa8504efbdf4413" /></Relationships>
</file>

<file path=ppt/slides/slide1.xml><?xml version="1.0" encoding="utf-8"?>
<p:sld xmlns:p="http://schemas.openxmlformats.org/presentationml/2006/main">
  <p:cSld>
    <p:bg>
      <p:bgPr>
        <a:solidFill xmlns:a="http://schemas.openxmlformats.org/drawingml/2006/main">
          <a:srgbClr val="0B303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4be0daa7c294c43"/>
          <a:srcRect xmlns:a="http://schemas.openxmlformats.org/drawingml/2006/main" l="21296" t="0" r="21296" b="0"/>
          <a:stretch xmlns:a="http://schemas.openxmlformats.org/drawingml/2006/main">
            <a:fillRect l="0" t="0" r="0" b="0"/>
          </a:stretch>
        </p:blipFill>
        <p:spPr>
          <a:xfrm xmlns:a="http://schemas.openxmlformats.org/drawingml/2006/main">
            <a:off x="6286500" y="0"/>
            <a:ext cx="5905500" cy="6858000"/>
          </a:xfrm>
          <a:prstGeom xmlns:a="http://schemas.openxmlformats.org/drawingml/2006/main" prst="rect">
            <a:avLst/>
          </a:prstGeom>
        </p:spPr>
      </p:pic>
      <p:sp>
        <p:nvSpPr>
          <p:cNvPr id="2" name="image-overlay">
            <a:extLst xmlns:a="http://schemas.openxmlformats.org/drawingml/2006/main">
              <a:ext uri="{FF2B5EF4-FFF2-40B4-BE49-F238E27FC236}">
                <a16:creationId xmlns:a16="http://schemas.microsoft.com/office/drawing/2014/main" id="{35099AFD-5777-4E35-9948-99CF933489A7}"/>
              </a:ext>
            </a:extLst>
          </p:cNvPr>
          <p:cNvSpPr>
            <a:spLocks xmlns:a="http://schemas.openxmlformats.org/drawingml/2006/main" noGrp="1"/>
          </p:cNvSpPr>
          <p:nvPr/>
        </p:nvSpPr>
        <p:spPr>
          <a:xfrm xmlns:a="http://schemas.openxmlformats.org/drawingml/2006/main">
            <a:off x="5810250" y="0"/>
            <a:ext cx="1714500" cy="6858000"/>
          </a:xfrm>
          <a:prstGeom xmlns:a="http://schemas.openxmlformats.org/drawingml/2006/main" prst="rect">
            <a:avLst/>
          </a:prstGeom>
          <a:ln xmlns:a="http://schemas.openxmlformats.org/drawingml/2006/main" w="0">
            <a:noFill/>
            <a:prstDash val="solid"/>
          </a:ln>
        </p:spPr>
      </p:sp>
      <p:sp>
        <p:nvSpPr>
          <p:cNvPr id="3" name="module-kicker">
            <a:extLst xmlns:a="http://schemas.openxmlformats.org/drawingml/2006/main">
              <a:ext uri="{FF2B5EF4-FFF2-40B4-BE49-F238E27FC236}">
                <a16:creationId xmlns:a16="http://schemas.microsoft.com/office/drawing/2014/main" id="{AD41458A-5E99-481B-B9AD-CFF579C39982}"/>
              </a:ext>
            </a:extLst>
          </p:cNvPr>
          <p:cNvSpPr>
            <a:spLocks xmlns:a="http://schemas.openxmlformats.org/drawingml/2006/main" noGrp="1"/>
          </p:cNvSpPr>
          <p:nvPr/>
        </p:nvSpPr>
        <p:spPr>
          <a:xfrm xmlns:a="http://schemas.openxmlformats.org/drawingml/2006/main">
            <a:off x="685800" y="8763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D99032"/>
                </a:solidFill>
              </a:defRPr>
            </a:pPr>
            <a:r>
              <a:rPr sz="1500" b="1">
                <a:solidFill>
                  <a:srgbClr val="D99032"/>
                </a:solidFill>
              </a:rPr>
              <a:t>MODULE 5 · WEEKS 9–10</a:t>
            </a:r>
          </a:p>
        </p:txBody>
      </p:sp>
      <p:sp>
        <p:nvSpPr>
          <p:cNvPr id="4" name="module-title">
            <a:extLst xmlns:a="http://schemas.openxmlformats.org/drawingml/2006/main">
              <a:ext uri="{FF2B5EF4-FFF2-40B4-BE49-F238E27FC236}">
                <a16:creationId xmlns:a16="http://schemas.microsoft.com/office/drawing/2014/main" id="{984AB5B1-11F7-4570-8C90-88A0F86ADBAC}"/>
              </a:ext>
            </a:extLst>
          </p:cNvPr>
          <p:cNvSpPr>
            <a:spLocks xmlns:a="http://schemas.openxmlformats.org/drawingml/2006/main" noGrp="1"/>
          </p:cNvSpPr>
          <p:nvPr/>
        </p:nvSpPr>
        <p:spPr>
          <a:xfrm xmlns:a="http://schemas.openxmlformats.org/drawingml/2006/main">
            <a:off x="685800" y="1543050"/>
            <a:ext cx="4953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900" b="1">
                <a:solidFill>
                  <a:srgbClr val="FFFFFF"/>
                </a:solidFill>
              </a:defRPr>
            </a:pPr>
            <a:r>
              <a:rPr sz="3900" b="1">
                <a:solidFill>
                  <a:srgbClr val="FFFFFF"/>
                </a:solidFill>
              </a:rPr>
              <a:t>Technology, quality and evaluation</a:t>
            </a:r>
          </a:p>
        </p:txBody>
      </p:sp>
      <p:sp>
        <p:nvSpPr>
          <p:cNvPr id="5" name="module-summary">
            <a:extLst xmlns:a="http://schemas.openxmlformats.org/drawingml/2006/main">
              <a:ext uri="{FF2B5EF4-FFF2-40B4-BE49-F238E27FC236}">
                <a16:creationId xmlns:a16="http://schemas.microsoft.com/office/drawing/2014/main" id="{E854F26C-A5B4-4036-A9AE-3B6A236ADB2F}"/>
              </a:ext>
            </a:extLst>
          </p:cNvPr>
          <p:cNvSpPr>
            <a:spLocks xmlns:a="http://schemas.openxmlformats.org/drawingml/2006/main" noGrp="1"/>
          </p:cNvSpPr>
          <p:nvPr/>
        </p:nvSpPr>
        <p:spPr>
          <a:xfrm xmlns:a="http://schemas.openxmlformats.org/drawingml/2006/main">
            <a:off x="685800" y="4000500"/>
            <a:ext cx="4762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a:solidFill>
                  <a:srgbClr val="DCE8E9"/>
                </a:solidFill>
              </a:defRPr>
            </a:pPr>
            <a:r>
              <a:rPr sz="1725">
                <a:solidFill>
                  <a:srgbClr val="DCE8E9"/>
                </a:solidFill>
              </a:rPr>
              <a:t>Compare processes by suitability, check quality throughout production and support the final evaluation with specific evidence.</a:t>
            </a:r>
          </a:p>
        </p:txBody>
      </p:sp>
      <p:sp>
        <p:nvSpPr>
          <p:cNvPr id="6" name="sequence">
            <a:extLst xmlns:a="http://schemas.openxmlformats.org/drawingml/2006/main">
              <a:ext uri="{FF2B5EF4-FFF2-40B4-BE49-F238E27FC236}">
                <a16:creationId xmlns:a16="http://schemas.microsoft.com/office/drawing/2014/main" id="{C2C64E55-12B2-4BAE-99B3-4DAB700AC5D5}"/>
              </a:ext>
            </a:extLst>
          </p:cNvPr>
          <p:cNvSpPr>
            <a:spLocks xmlns:a="http://schemas.openxmlformats.org/drawingml/2006/main" noGrp="1"/>
          </p:cNvSpPr>
          <p:nvPr/>
        </p:nvSpPr>
        <p:spPr>
          <a:xfrm xmlns:a="http://schemas.openxmlformats.org/drawingml/2006/main">
            <a:off x="685800" y="56388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Presentation → theory → guided checks → written evidence</a:t>
            </a:r>
          </a:p>
        </p:txBody>
      </p:sp>
    </p:spTree>
    <p:extLst>
      <p:ext uri="{BB962C8B-B14F-4D97-AF65-F5344CB8AC3E}">
        <p14:creationId xmlns:p14="http://schemas.microsoft.com/office/powerpoint/2010/main" val="1673035810"/>
      </p:ext>
    </p:extLst>
  </p:cSld>
</p:sld>
</file>

<file path=ppt/slides/slide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71AC112D-8C05-4745-82E8-B14A5E399F88}"/>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SHEET-METAL TOOLBOX · MODULE 5</a:t>
            </a:r>
          </a:p>
        </p:txBody>
      </p:sp>
      <p:sp>
        <p:nvSpPr>
          <p:cNvPr id="2" name="slide-label">
            <a:extLst xmlns:a="http://schemas.openxmlformats.org/drawingml/2006/main">
              <a:ext uri="{FF2B5EF4-FFF2-40B4-BE49-F238E27FC236}">
                <a16:creationId xmlns:a16="http://schemas.microsoft.com/office/drawing/2014/main" id="{52897B02-42A7-4DCD-9467-0B2BF75FD136}"/>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1</a:t>
            </a:r>
          </a:p>
        </p:txBody>
      </p:sp>
      <p:sp>
        <p:nvSpPr>
          <p:cNvPr id="3" name="theory-title">
            <a:extLst xmlns:a="http://schemas.openxmlformats.org/drawingml/2006/main">
              <a:ext uri="{FF2B5EF4-FFF2-40B4-BE49-F238E27FC236}">
                <a16:creationId xmlns:a16="http://schemas.microsoft.com/office/drawing/2014/main" id="{9DF184EC-CE32-4359-9ED4-D68F630392E7}"/>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Quality, technology and evaluation</a:t>
            </a:r>
          </a:p>
        </p:txBody>
      </p:sp>
      <p:sp>
        <p:nvSpPr>
          <p:cNvPr id="4" name="understand-label">
            <a:extLst xmlns:a="http://schemas.openxmlformats.org/drawingml/2006/main">
              <a:ext uri="{FF2B5EF4-FFF2-40B4-BE49-F238E27FC236}">
                <a16:creationId xmlns:a16="http://schemas.microsoft.com/office/drawing/2014/main" id="{55DF7B36-573C-47C9-9983-1A1B84DAC7E2}"/>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46928C14-AEA7-4C50-BF62-ABF27BBD87B8}"/>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Compare conventional and CNC processes by suitability, not by assuming newer technology is always better. Conventional processes can offer direct control, flexibility and skill development, while CNC can support repeatability and complex shapes when suitable digital information and equipment are available. The best choice depends on accuracy, quantity, material, resources and purpose.</a:t>
            </a:r>
          </a:p>
        </p:txBody>
      </p:sp>
      <p:sp>
        <p:nvSpPr>
          <p:cNvPr id="6" name="apply-label">
            <a:extLst xmlns:a="http://schemas.openxmlformats.org/drawingml/2006/main">
              <a:ext uri="{FF2B5EF4-FFF2-40B4-BE49-F238E27FC236}">
                <a16:creationId xmlns:a16="http://schemas.microsoft.com/office/drawing/2014/main" id="{B6C68753-A8C5-4AE1-B58B-1772BE3D57B6}"/>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48139E23-33BA-4D98-9A73-DC08136A0F2E}"/>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Check quality throughout production using teacher-approved criteria. Evidence might include photographs, annotated sketches, measurements, trial fits and records of problems and corrections. A useful evaluation makes a specific judgement, supports it with evidence and identifies one realistic improvement.</a:t>
            </a:r>
          </a:p>
        </p:txBody>
      </p:sp>
      <p:sp>
        <p:nvSpPr>
          <p:cNvPr id="8" name="key-point">
            <a:extLst xmlns:a="http://schemas.openxmlformats.org/drawingml/2006/main">
              <a:ext uri="{FF2B5EF4-FFF2-40B4-BE49-F238E27FC236}">
                <a16:creationId xmlns:a16="http://schemas.microsoft.com/office/drawing/2014/main" id="{2072DA33-3931-448C-89FB-24B91C961BDC}"/>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17B60FFD-923B-4B6A-93CF-15980FB9DD1E}"/>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Judge technology by suitability and evaluation by evidence.</a:t>
            </a:r>
          </a:p>
        </p:txBody>
      </p:sp>
      <p:sp>
        <p:nvSpPr>
          <p:cNvPr id="10" name="source-boundary">
            <a:extLst xmlns:a="http://schemas.openxmlformats.org/drawingml/2006/main">
              <a:ext uri="{FF2B5EF4-FFF2-40B4-BE49-F238E27FC236}">
                <a16:creationId xmlns:a16="http://schemas.microsoft.com/office/drawing/2014/main" id="{662A94A3-B0BF-4F1F-8B3A-93BEFFE4DD47}"/>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sheet-metal toolbox drawings, demonstrations and workshop instructions for every practical step.</a:t>
            </a:r>
          </a:p>
        </p:txBody>
      </p:sp>
    </p:spTree>
    <p:extLst>
      <p:ext uri="{BB962C8B-B14F-4D97-AF65-F5344CB8AC3E}">
        <p14:creationId xmlns:p14="http://schemas.microsoft.com/office/powerpoint/2010/main" val="583722342"/>
      </p:ext>
    </p:extLst>
  </p:cSld>
</p:sld>
</file>

<file path=ppt/slides/slide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E7159B6E-A5F0-48AC-A559-E618954D8B38}"/>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SHEET-METAL TOOLBOX · MODULE 5</a:t>
            </a:r>
          </a:p>
        </p:txBody>
      </p:sp>
      <p:sp>
        <p:nvSpPr>
          <p:cNvPr id="2" name="slide-label">
            <a:extLst xmlns:a="http://schemas.openxmlformats.org/drawingml/2006/main">
              <a:ext uri="{FF2B5EF4-FFF2-40B4-BE49-F238E27FC236}">
                <a16:creationId xmlns:a16="http://schemas.microsoft.com/office/drawing/2014/main" id="{C90E21A5-3259-4225-B276-3EDE1B71400C}"/>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2</a:t>
            </a:r>
          </a:p>
        </p:txBody>
      </p:sp>
      <p:sp>
        <p:nvSpPr>
          <p:cNvPr id="3" name="theory-title">
            <a:extLst xmlns:a="http://schemas.openxmlformats.org/drawingml/2006/main">
              <a:ext uri="{FF2B5EF4-FFF2-40B4-BE49-F238E27FC236}">
                <a16:creationId xmlns:a16="http://schemas.microsoft.com/office/drawing/2014/main" id="{E6719B46-CE3A-4F2E-8D60-8189E1301500}"/>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Current and emerging manufacturing</a:t>
            </a:r>
          </a:p>
        </p:txBody>
      </p:sp>
      <p:sp>
        <p:nvSpPr>
          <p:cNvPr id="4" name="understand-label">
            <a:extLst xmlns:a="http://schemas.openxmlformats.org/drawingml/2006/main">
              <a:ext uri="{FF2B5EF4-FFF2-40B4-BE49-F238E27FC236}">
                <a16:creationId xmlns:a16="http://schemas.microsoft.com/office/drawing/2014/main" id="{C34928EB-A737-449A-A0C2-04FABF2FE0D2}"/>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649FE768-5128-4D51-9AA3-130FCC8807A2}"/>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Computer numerical control uses programmed information to control machine movement. Depending on the equipment, digital design data can support repeatable parts and complex profiles, but it also requires validated files, correct setup, suitable material and trained supervision.</a:t>
            </a:r>
          </a:p>
        </p:txBody>
      </p:sp>
      <p:sp>
        <p:nvSpPr>
          <p:cNvPr id="6" name="apply-label">
            <a:extLst xmlns:a="http://schemas.openxmlformats.org/drawingml/2006/main">
              <a:ext uri="{FF2B5EF4-FFF2-40B4-BE49-F238E27FC236}">
                <a16:creationId xmlns:a16="http://schemas.microsoft.com/office/drawing/2014/main" id="{6A184D5B-3431-419A-A5B0-254541D40B6A}"/>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DD99F751-0CD6-45B3-A45B-91756A85B527}"/>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Laser, plasma, waterjet and CNC machining processes have different capabilities, limitations, costs and safety systems. Compare them using reliable evidence and the needs of the production context rather than promotional claims.</a:t>
            </a:r>
          </a:p>
        </p:txBody>
      </p:sp>
      <p:sp>
        <p:nvSpPr>
          <p:cNvPr id="8" name="key-point">
            <a:extLst xmlns:a="http://schemas.openxmlformats.org/drawingml/2006/main">
              <a:ext uri="{FF2B5EF4-FFF2-40B4-BE49-F238E27FC236}">
                <a16:creationId xmlns:a16="http://schemas.microsoft.com/office/drawing/2014/main" id="{3C33EDA6-4CD7-4359-8F7C-A640D029C77D}"/>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26225BB7-3A77-4A87-92A9-CF7BAD8AB7D1}"/>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Advanced does not automatically mean appropriate.</a:t>
            </a:r>
          </a:p>
        </p:txBody>
      </p:sp>
      <p:sp>
        <p:nvSpPr>
          <p:cNvPr id="10" name="source-boundary">
            <a:extLst xmlns:a="http://schemas.openxmlformats.org/drawingml/2006/main">
              <a:ext uri="{FF2B5EF4-FFF2-40B4-BE49-F238E27FC236}">
                <a16:creationId xmlns:a16="http://schemas.microsoft.com/office/drawing/2014/main" id="{BFF3C125-2528-4388-9E19-DA64690F419B}"/>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sheet-metal toolbox drawings, demonstrations and workshop instructions for every practical step.</a:t>
            </a:r>
          </a:p>
        </p:txBody>
      </p:sp>
    </p:spTree>
    <p:extLst>
      <p:ext uri="{BB962C8B-B14F-4D97-AF65-F5344CB8AC3E}">
        <p14:creationId xmlns:p14="http://schemas.microsoft.com/office/powerpoint/2010/main" val="1465203499"/>
      </p:ext>
    </p:extLst>
  </p:cSld>
</p:sld>
</file>

<file path=ppt/slides/slide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8B9E5F93-24AE-47B5-BC31-328AA1C87F9A}"/>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SHEET-METAL TOOLBOX · MODULE 5</a:t>
            </a:r>
          </a:p>
        </p:txBody>
      </p:sp>
      <p:sp>
        <p:nvSpPr>
          <p:cNvPr id="2" name="slide-label">
            <a:extLst xmlns:a="http://schemas.openxmlformats.org/drawingml/2006/main">
              <a:ext uri="{FF2B5EF4-FFF2-40B4-BE49-F238E27FC236}">
                <a16:creationId xmlns:a16="http://schemas.microsoft.com/office/drawing/2014/main" id="{9CFA85B9-D1D8-4751-90DE-912344997FB5}"/>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3</a:t>
            </a:r>
          </a:p>
        </p:txBody>
      </p:sp>
      <p:sp>
        <p:nvSpPr>
          <p:cNvPr id="3" name="theory-title">
            <a:extLst xmlns:a="http://schemas.openxmlformats.org/drawingml/2006/main">
              <a:ext uri="{FF2B5EF4-FFF2-40B4-BE49-F238E27FC236}">
                <a16:creationId xmlns:a16="http://schemas.microsoft.com/office/drawing/2014/main" id="{A8C02E44-F112-45CE-B281-3FD18A57951A}"/>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Folio and final evaluation</a:t>
            </a:r>
          </a:p>
        </p:txBody>
      </p:sp>
      <p:sp>
        <p:nvSpPr>
          <p:cNvPr id="4" name="understand-label">
            <a:extLst xmlns:a="http://schemas.openxmlformats.org/drawingml/2006/main">
              <a:ext uri="{FF2B5EF4-FFF2-40B4-BE49-F238E27FC236}">
                <a16:creationId xmlns:a16="http://schemas.microsoft.com/office/drawing/2014/main" id="{925B9581-9CF4-4C38-B2F5-6F1B603F919A}"/>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455F5C8E-E02D-4F34-A849-7138F8E80242}"/>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Organise evidence from the Toolbox project so the reader can follow the brief, research, planning, production, quality checks, problem solving and evaluation. Captions should explain what the evidence proves, not merely identify the photograph.</a:t>
            </a:r>
          </a:p>
        </p:txBody>
      </p:sp>
      <p:sp>
        <p:nvSpPr>
          <p:cNvPr id="6" name="apply-label">
            <a:extLst xmlns:a="http://schemas.openxmlformats.org/drawingml/2006/main">
              <a:ext uri="{FF2B5EF4-FFF2-40B4-BE49-F238E27FC236}">
                <a16:creationId xmlns:a16="http://schemas.microsoft.com/office/drawing/2014/main" id="{A61C93DB-5287-436B-8875-CDC44697CC47}"/>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71DE8639-A86D-4C60-928B-D28DBCC173F7}"/>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Compare the result with the teacher-approved criteria. Name specific strengths and limitations, cite the evidence, and propose one realistic change to the design, sequence, checking process or skill preparation.</a:t>
            </a:r>
          </a:p>
        </p:txBody>
      </p:sp>
      <p:sp>
        <p:nvSpPr>
          <p:cNvPr id="8" name="key-point">
            <a:extLst xmlns:a="http://schemas.openxmlformats.org/drawingml/2006/main">
              <a:ext uri="{FF2B5EF4-FFF2-40B4-BE49-F238E27FC236}">
                <a16:creationId xmlns:a16="http://schemas.microsoft.com/office/drawing/2014/main" id="{0748B588-1AB8-44C8-9F72-7D01F2003842}"/>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571917ED-141E-4A4C-BCA9-5C2FC72BC26C}"/>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A folio shows decisions and learning, not only finished products.</a:t>
            </a:r>
          </a:p>
        </p:txBody>
      </p:sp>
      <p:sp>
        <p:nvSpPr>
          <p:cNvPr id="10" name="source-boundary">
            <a:extLst xmlns:a="http://schemas.openxmlformats.org/drawingml/2006/main">
              <a:ext uri="{FF2B5EF4-FFF2-40B4-BE49-F238E27FC236}">
                <a16:creationId xmlns:a16="http://schemas.microsoft.com/office/drawing/2014/main" id="{F4CCE3F2-D2D0-4526-A145-082D550307DB}"/>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sheet-metal toolbox drawings, demonstrations and workshop instructions for every practical step.</a:t>
            </a:r>
          </a:p>
        </p:txBody>
      </p:sp>
    </p:spTree>
    <p:extLst>
      <p:ext uri="{BB962C8B-B14F-4D97-AF65-F5344CB8AC3E}">
        <p14:creationId xmlns:p14="http://schemas.microsoft.com/office/powerpoint/2010/main" val="1774131255"/>
      </p:ext>
    </p:extLst>
  </p:cSld>
</p:sld>
</file>

<file path=ppt/slides/slide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9" name="course-label">
            <a:extLst xmlns:a="http://schemas.openxmlformats.org/drawingml/2006/main">
              <a:ext uri="{FF2B5EF4-FFF2-40B4-BE49-F238E27FC236}">
                <a16:creationId xmlns:a16="http://schemas.microsoft.com/office/drawing/2014/main" id="{5F1101B0-487F-4769-94F9-D7E18F7F6112}"/>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SHEET-METAL TOOLBOX · MODULE 5</a:t>
            </a:r>
          </a:p>
        </p:txBody>
      </p:sp>
      <p:sp>
        <p:nvSpPr>
          <p:cNvPr id="2" name="slide-label">
            <a:extLst xmlns:a="http://schemas.openxmlformats.org/drawingml/2006/main">
              <a:ext uri="{FF2B5EF4-FFF2-40B4-BE49-F238E27FC236}">
                <a16:creationId xmlns:a16="http://schemas.microsoft.com/office/drawing/2014/main" id="{02F61F13-91CA-4334-9B77-37EB5BAA0EE5}"/>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SAVE EVIDENCE</a:t>
            </a:r>
          </a:p>
        </p:txBody>
      </p:sp>
      <p:sp>
        <p:nvSpPr>
          <p:cNvPr id="3" name="evidence-title">
            <a:extLst xmlns:a="http://schemas.openxmlformats.org/drawingml/2006/main">
              <a:ext uri="{FF2B5EF4-FFF2-40B4-BE49-F238E27FC236}">
                <a16:creationId xmlns:a16="http://schemas.microsoft.com/office/drawing/2014/main" id="{E39C498E-65BE-4065-B95E-F679D0CC491D}"/>
              </a:ext>
            </a:extLst>
          </p:cNvPr>
          <p:cNvSpPr>
            <a:spLocks xmlns:a="http://schemas.openxmlformats.org/drawingml/2006/main" noGrp="1"/>
          </p:cNvSpPr>
          <p:nvPr/>
        </p:nvSpPr>
        <p:spPr>
          <a:xfrm xmlns:a="http://schemas.openxmlformats.org/drawingml/2006/main">
            <a:off x="685800" y="1000125"/>
            <a:ext cx="542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300" b="1">
                <a:solidFill>
                  <a:srgbClr val="10252B"/>
                </a:solidFill>
              </a:defRPr>
            </a:pPr>
            <a:r>
              <a:rPr sz="3300" b="1">
                <a:solidFill>
                  <a:srgbClr val="10252B"/>
                </a:solidFill>
              </a:rPr>
              <a:t>Explain your thinking</a:t>
            </a:r>
          </a:p>
        </p:txBody>
      </p:sp>
      <p:sp>
        <p:nvSpPr>
          <p:cNvPr id="4" name="evidence-prompt">
            <a:extLst xmlns:a="http://schemas.openxmlformats.org/drawingml/2006/main">
              <a:ext uri="{FF2B5EF4-FFF2-40B4-BE49-F238E27FC236}">
                <a16:creationId xmlns:a16="http://schemas.microsoft.com/office/drawing/2014/main" id="{3A432E11-03BD-4254-824D-00BDBA0A9DC8}"/>
              </a:ext>
            </a:extLst>
          </p:cNvPr>
          <p:cNvSpPr>
            <a:spLocks xmlns:a="http://schemas.openxmlformats.org/drawingml/2006/main" noGrp="1"/>
          </p:cNvSpPr>
          <p:nvPr/>
        </p:nvSpPr>
        <p:spPr>
          <a:xfrm xmlns:a="http://schemas.openxmlformats.org/drawingml/2006/main">
            <a:off x="685800" y="1962150"/>
            <a:ext cx="5000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10252B"/>
                </a:solidFill>
              </a:defRPr>
            </a:pPr>
            <a:r>
              <a:rPr sz="1800">
                <a:solidFill>
                  <a:srgbClr val="10252B"/>
                </a:solidFill>
              </a:rPr>
              <a:t>Compare one conventional process with one CNC or emerging process by explaining when each would be suitable. Then evaluate one part of your project using specific evidence and identify one realistic improvement.</a:t>
            </a:r>
          </a:p>
        </p:txBody>
      </p:sp>
      <p:sp>
        <p:nvSpPr>
          <p:cNvPr id="5" name="evidence-reminder">
            <a:extLst xmlns:a="http://schemas.openxmlformats.org/drawingml/2006/main">
              <a:ext uri="{FF2B5EF4-FFF2-40B4-BE49-F238E27FC236}">
                <a16:creationId xmlns:a16="http://schemas.microsoft.com/office/drawing/2014/main" id="{A07C4195-272A-4837-9B21-1F794315E07D}"/>
              </a:ext>
            </a:extLst>
          </p:cNvPr>
          <p:cNvSpPr>
            <a:spLocks xmlns:a="http://schemas.openxmlformats.org/drawingml/2006/main" noGrp="1"/>
          </p:cNvSpPr>
          <p:nvPr/>
        </p:nvSpPr>
        <p:spPr>
          <a:xfrm xmlns:a="http://schemas.openxmlformats.org/drawingml/2006/main">
            <a:off x="685800" y="4267200"/>
            <a:ext cx="5000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74F5D"/>
                </a:solidFill>
              </a:defRPr>
            </a:pPr>
            <a:r>
              <a:rPr sz="1500" b="1">
                <a:solidFill>
                  <a:srgbClr val="174F5D"/>
                </a:solidFill>
              </a:rPr>
              <a:t>Use your own project evidence. Save or print your response as directed by your teacher.</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1b510be05ed4d82"/>
          <a:srcRect xmlns:a="http://schemas.openxmlformats.org/drawingml/2006/main" l="13761" t="0" r="13761" b="0"/>
          <a:stretch xmlns:a="http://schemas.openxmlformats.org/drawingml/2006/main">
            <a:fillRect l="0" t="0" r="0" b="0"/>
          </a:stretch>
        </p:blipFill>
        <p:spPr>
          <a:xfrm xmlns:a="http://schemas.openxmlformats.org/drawingml/2006/main">
            <a:off x="6477000" y="1276350"/>
            <a:ext cx="5029200" cy="3905250"/>
          </a:xfrm>
          <a:prstGeom xmlns:a="http://schemas.openxmlformats.org/drawingml/2006/main" prst="roundRect">
            <a:avLst>
              <a:gd name="adj" fmla="val 2927"/>
            </a:avLst>
          </a:prstGeom>
        </p:spPr>
      </p:pic>
      <p:sp>
        <p:nvSpPr>
          <p:cNvPr id="7" name="completion">
            <a:extLst xmlns:a="http://schemas.openxmlformats.org/drawingml/2006/main">
              <a:ext uri="{FF2B5EF4-FFF2-40B4-BE49-F238E27FC236}">
                <a16:creationId xmlns:a16="http://schemas.microsoft.com/office/drawing/2014/main" id="{20B1D100-6CF0-40FA-9578-69E32E64780B}"/>
              </a:ext>
            </a:extLst>
          </p:cNvPr>
          <p:cNvSpPr>
            <a:spLocks xmlns:a="http://schemas.openxmlformats.org/drawingml/2006/main" noGrp="1"/>
          </p:cNvSpPr>
          <p:nvPr/>
        </p:nvSpPr>
        <p:spPr>
          <a:xfrm xmlns:a="http://schemas.openxmlformats.org/drawingml/2006/main">
            <a:off x="6477000" y="5467350"/>
            <a:ext cx="5029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Complete the checks and written response on the course website.</a:t>
            </a:r>
          </a:p>
        </p:txBody>
      </p:sp>
      <p:sp>
        <p:nvSpPr>
          <p:cNvPr id="8" name="source-boundary">
            <a:extLst xmlns:a="http://schemas.openxmlformats.org/drawingml/2006/main">
              <a:ext uri="{FF2B5EF4-FFF2-40B4-BE49-F238E27FC236}">
                <a16:creationId xmlns:a16="http://schemas.microsoft.com/office/drawing/2014/main" id="{BF07662C-C6C6-4EE8-B60F-6D860ED8056A}"/>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sheet-metal toolbox drawings, demonstrations and workshop instructions for every practical step.</a:t>
            </a:r>
          </a:p>
        </p:txBody>
      </p:sp>
    </p:spTree>
    <p:extLst>
      <p:ext uri="{BB962C8B-B14F-4D97-AF65-F5344CB8AC3E}">
        <p14:creationId xmlns:p14="http://schemas.microsoft.com/office/powerpoint/2010/main" val="14681056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2026-08-15T12:46:25.0790000Z</dcterms:created>
  <dcterms:modified xsi:type="dcterms:W3CDTF">2026-08-15T12:46:25.0790000Z</dcterms:modified>
</coreProperties>
</file>