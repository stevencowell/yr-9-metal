
<file path=[Content_Types].xml><?xml version="1.0" encoding="utf-8"?>
<Types xmlns="http://schemas.openxmlformats.org/package/2006/content-types">
  <Default Extension="xml" ContentType="application/vnd.openxmlformats-package.core-properties+xml"/>
  <Default Extension="bin" ContentType="image/webp"/>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e66a85edaa04118" /><Relationship Type="http://schemas.openxmlformats.org/officeDocument/2006/relationships/extended-properties" Target="/docProps/app.xml" Id="R640a6068435d4536" /><Relationship Type="http://schemas.openxmlformats.org/officeDocument/2006/relationships/officeDocument" Target="/ppt/presentation.xml" Id="R651bb2aa61504d92" /></Relationships>
</file>

<file path=ppt/presentation.xml><?xml version="1.0" encoding="utf-8"?>
<p:presentation xmlns:p="http://schemas.openxmlformats.org/presentationml/2006/main">
  <p:sldMasterIdLst>
    <p:sldMasterId xmlns:r="http://schemas.openxmlformats.org/officeDocument/2006/relationships" id="2147483648" r:id="R8f5449bf7e434b75"/>
  </p:sldMasterIdLst>
  <p:notesMasterIdLst>
    <p:notesMasterId xmlns:r="http://schemas.openxmlformats.org/officeDocument/2006/relationships" r:id="R6fdbf67d0ee74d4c"/>
  </p:notesMasterIdLst>
  <p:sldIdLst>
    <p:sldId xmlns:r="http://schemas.openxmlformats.org/officeDocument/2006/relationships" id="256" r:id="Re5db03b0d7894352"/>
    <p:sldId xmlns:r="http://schemas.openxmlformats.org/officeDocument/2006/relationships" id="257" r:id="R246d796e4b644f6f"/>
    <p:sldId xmlns:r="http://schemas.openxmlformats.org/officeDocument/2006/relationships" id="258" r:id="R83fb810a55bf4bee"/>
    <p:sldId xmlns:r="http://schemas.openxmlformats.org/officeDocument/2006/relationships" id="259" r:id="R13ba498f79dd450d"/>
    <p:sldId xmlns:r="http://schemas.openxmlformats.org/officeDocument/2006/relationships" id="260" r:id="R667713f399ee4d9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7b96d481e94c12" /><Relationship Type="http://schemas.openxmlformats.org/officeDocument/2006/relationships/slideMaster" Target="/ppt/slideMasters/slideMaster1.xml" Id="R8f5449bf7e434b75" /><Relationship Type="http://schemas.openxmlformats.org/officeDocument/2006/relationships/notesMaster" Target="/ppt/notesMasters/notesMaster1.xml" Id="R6fdbf67d0ee74d4c" /><Relationship Type="http://schemas.openxmlformats.org/officeDocument/2006/relationships/presProps" Target="/ppt/presProps.xml" Id="R01995437f1444049" /><Relationship Type="http://schemas.openxmlformats.org/officeDocument/2006/relationships/tableStyles" Target="/ppt/tableStyles.xml" Id="Rc63f7bf8ebc14953" /><Relationship Type="http://schemas.openxmlformats.org/officeDocument/2006/relationships/slide" Target="/ppt/slides/slide1.xml" Id="Re5db03b0d7894352" /><Relationship Type="http://schemas.openxmlformats.org/officeDocument/2006/relationships/slide" Target="/ppt/slides/slide2.xml" Id="R246d796e4b644f6f" /><Relationship Type="http://schemas.openxmlformats.org/officeDocument/2006/relationships/slide" Target="/ppt/slides/slide3.xml" Id="R83fb810a55bf4bee" /><Relationship Type="http://schemas.openxmlformats.org/officeDocument/2006/relationships/slide" Target="/ppt/slides/slide4.xml" Id="R13ba498f79dd450d" /><Relationship Type="http://schemas.openxmlformats.org/officeDocument/2006/relationships/slide" Target="/ppt/slides/slide5.xml" Id="R667713f399ee4d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32d70e041e471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1a06740f97430d" /><Relationship Type="http://schemas.openxmlformats.org/officeDocument/2006/relationships/notesMaster" Target="/ppt/notesMasters/notesMaster1.xml" Id="Rbeb46eafcf3d44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86f6986b22a4432c" /><Relationship Type="http://schemas.openxmlformats.org/officeDocument/2006/relationships/notesMaster" Target="/ppt/notesMasters/notesMaster1.xml" Id="Rf15e6760a2a14ab3"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75aa1feaa24c1d" /><Relationship Type="http://schemas.openxmlformats.org/officeDocument/2006/relationships/notesMaster" Target="/ppt/notesMasters/notesMaster1.xml" Id="Rd2305fce682f4e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473ecb894e4323" /><Relationship Type="http://schemas.openxmlformats.org/officeDocument/2006/relationships/notesMaster" Target="/ppt/notesMasters/notesMaster1.xml" Id="R5ab1582d23f243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9d3b08ec724a42" /><Relationship Type="http://schemas.openxmlformats.org/officeDocument/2006/relationships/notesMaster" Target="/ppt/notesMasters/notesMaster1.xml" Id="Rd80461be7eeb4a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5cc81847bd443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c9add99e32407c" /><Relationship Type="http://schemas.openxmlformats.org/officeDocument/2006/relationships/slideLayout" Target="/ppt/slideLayouts/slideLayout1.xml" Id="Rf2b92521722b4d8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b92521722b4d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46a0d86720a4f06" /><Relationship Type="http://schemas.openxmlformats.org/officeDocument/2006/relationships/image" Target="/ppt/media/image.bin" Id="R0f2aa26e609c42e0" /><Relationship Type="http://schemas.openxmlformats.org/officeDocument/2006/relationships/notesSlide" Target="/ppt/notesSlides/notesSlide1.xml" Id="R102f3f51648449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3e05f6c78dc4b36" /><Relationship Type="http://schemas.openxmlformats.org/officeDocument/2006/relationships/notesSlide" Target="/ppt/notesSlides/notesSlide2.xml" Id="R0ed2cf12417f4b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b8bc0ad1ce14b1e" /><Relationship Type="http://schemas.openxmlformats.org/officeDocument/2006/relationships/notesSlide" Target="/ppt/notesSlides/notesSlide3.xml" Id="Rf557744fca154e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1bda8b390354f1e" /><Relationship Type="http://schemas.openxmlformats.org/officeDocument/2006/relationships/notesSlide" Target="/ppt/notesSlides/notesSlide4.xml" Id="Re9c6c690080648e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5e5b845e8a549ad" /><Relationship Type="http://schemas.openxmlformats.org/officeDocument/2006/relationships/image" Target="/ppt/media/image.png" Id="Rff7a3af001854b59" /><Relationship Type="http://schemas.openxmlformats.org/officeDocument/2006/relationships/notesSlide" Target="/ppt/notesSlides/notesSlide5.xml" Id="R5f47c6b77a2d4b69" /></Relationships>
</file>

<file path=ppt/slides/slide1.xml><?xml version="1.0" encoding="utf-8"?>
<p:sld xmlns:p="http://schemas.openxmlformats.org/presentationml/2006/main">
  <p:cSld>
    <p:bg>
      <p:bgPr>
        <a:solidFill xmlns:a="http://schemas.openxmlformats.org/drawingml/2006/main">
          <a:srgbClr val="0B303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f2aa26e609c42e0"/>
          <a:srcRect xmlns:a="http://schemas.openxmlformats.org/drawingml/2006/main" l="21296" t="0" r="21296" b="0"/>
          <a:stretch xmlns:a="http://schemas.openxmlformats.org/drawingml/2006/main">
            <a:fillRect l="0" t="0" r="0" b="0"/>
          </a:stretch>
        </p:blipFill>
        <p:spPr>
          <a:xfrm xmlns:a="http://schemas.openxmlformats.org/drawingml/2006/main">
            <a:off x="6286500" y="0"/>
            <a:ext cx="5905500" cy="6858000"/>
          </a:xfrm>
          <a:prstGeom xmlns:a="http://schemas.openxmlformats.org/drawingml/2006/main" prst="rect">
            <a:avLst/>
          </a:prstGeom>
        </p:spPr>
      </p:pic>
      <p:sp>
        <p:nvSpPr>
          <p:cNvPr id="2" name="image-overlay">
            <a:extLst xmlns:a="http://schemas.openxmlformats.org/drawingml/2006/main">
              <a:ext uri="{FF2B5EF4-FFF2-40B4-BE49-F238E27FC236}">
                <a16:creationId xmlns:a16="http://schemas.microsoft.com/office/drawing/2014/main" id="{E2B1D59C-C07D-4D0B-AED3-2CBE1BC34CAD}"/>
              </a:ext>
            </a:extLst>
          </p:cNvPr>
          <p:cNvSpPr>
            <a:spLocks xmlns:a="http://schemas.openxmlformats.org/drawingml/2006/main" noGrp="1"/>
          </p:cNvSpPr>
          <p:nvPr/>
        </p:nvSpPr>
        <p:spPr>
          <a:xfrm xmlns:a="http://schemas.openxmlformats.org/drawingml/2006/main">
            <a:off x="5810250" y="0"/>
            <a:ext cx="1714500" cy="6858000"/>
          </a:xfrm>
          <a:prstGeom xmlns:a="http://schemas.openxmlformats.org/drawingml/2006/main" prst="rect">
            <a:avLst/>
          </a:prstGeom>
          <a:ln xmlns:a="http://schemas.openxmlformats.org/drawingml/2006/main" w="0">
            <a:noFill/>
            <a:prstDash val="solid"/>
          </a:ln>
        </p:spPr>
      </p:sp>
      <p:sp>
        <p:nvSpPr>
          <p:cNvPr id="3" name="module-kicker">
            <a:extLst xmlns:a="http://schemas.openxmlformats.org/drawingml/2006/main">
              <a:ext uri="{FF2B5EF4-FFF2-40B4-BE49-F238E27FC236}">
                <a16:creationId xmlns:a16="http://schemas.microsoft.com/office/drawing/2014/main" id="{0AFAADF2-4E7E-4462-983B-675EFBD232FE}"/>
              </a:ext>
            </a:extLst>
          </p:cNvPr>
          <p:cNvSpPr>
            <a:spLocks xmlns:a="http://schemas.openxmlformats.org/drawingml/2006/main" noGrp="1"/>
          </p:cNvSpPr>
          <p:nvPr/>
        </p:nvSpPr>
        <p:spPr>
          <a:xfrm xmlns:a="http://schemas.openxmlformats.org/drawingml/2006/main">
            <a:off x="685800" y="8763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D99032"/>
                </a:solidFill>
              </a:defRPr>
            </a:pPr>
            <a:r>
              <a:rPr sz="1500" b="1">
                <a:solidFill>
                  <a:srgbClr val="D99032"/>
                </a:solidFill>
              </a:rPr>
              <a:t>MODULE 3 · WEEKS 5–6</a:t>
            </a:r>
          </a:p>
        </p:txBody>
      </p:sp>
      <p:sp>
        <p:nvSpPr>
          <p:cNvPr id="4" name="module-title">
            <a:extLst xmlns:a="http://schemas.openxmlformats.org/drawingml/2006/main">
              <a:ext uri="{FF2B5EF4-FFF2-40B4-BE49-F238E27FC236}">
                <a16:creationId xmlns:a16="http://schemas.microsoft.com/office/drawing/2014/main" id="{D1C57E6B-707F-4DD3-B3A4-FBF4BC8E1839}"/>
              </a:ext>
            </a:extLst>
          </p:cNvPr>
          <p:cNvSpPr>
            <a:spLocks xmlns:a="http://schemas.openxmlformats.org/drawingml/2006/main" noGrp="1"/>
          </p:cNvSpPr>
          <p:nvPr/>
        </p:nvSpPr>
        <p:spPr>
          <a:xfrm xmlns:a="http://schemas.openxmlformats.org/drawingml/2006/main">
            <a:off x="685800" y="1543050"/>
            <a:ext cx="4953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900" b="1">
                <a:solidFill>
                  <a:srgbClr val="FFFFFF"/>
                </a:solidFill>
              </a:defRPr>
            </a:pPr>
            <a:r>
              <a:rPr sz="3900" b="1">
                <a:solidFill>
                  <a:srgbClr val="FFFFFF"/>
                </a:solidFill>
              </a:rPr>
              <a:t>Mark, cut and form accurately</a:t>
            </a:r>
          </a:p>
        </p:txBody>
      </p:sp>
      <p:sp>
        <p:nvSpPr>
          <p:cNvPr id="5" name="module-summary">
            <a:extLst xmlns:a="http://schemas.openxmlformats.org/drawingml/2006/main">
              <a:ext uri="{FF2B5EF4-FFF2-40B4-BE49-F238E27FC236}">
                <a16:creationId xmlns:a16="http://schemas.microsoft.com/office/drawing/2014/main" id="{E77F555B-B6FD-4F5F-A846-EC909FAC9CF8}"/>
              </a:ext>
            </a:extLst>
          </p:cNvPr>
          <p:cNvSpPr>
            <a:spLocks xmlns:a="http://schemas.openxmlformats.org/drawingml/2006/main" noGrp="1"/>
          </p:cNvSpPr>
          <p:nvPr/>
        </p:nvSpPr>
        <p:spPr>
          <a:xfrm xmlns:a="http://schemas.openxmlformats.org/drawingml/2006/main">
            <a:off x="685800" y="4000500"/>
            <a:ext cx="4762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a:solidFill>
                  <a:srgbClr val="DCE8E9"/>
                </a:solidFill>
              </a:defRPr>
            </a:pPr>
            <a:r>
              <a:rPr sz="1725">
                <a:solidFill>
                  <a:srgbClr val="DCE8E9"/>
                </a:solidFill>
              </a:rPr>
              <a:t>Establish reliable references, mark the waste side, secure the work and follow the demonstrated cutting and forming sequence.</a:t>
            </a:r>
          </a:p>
        </p:txBody>
      </p:sp>
      <p:sp>
        <p:nvSpPr>
          <p:cNvPr id="6" name="sequence">
            <a:extLst xmlns:a="http://schemas.openxmlformats.org/drawingml/2006/main">
              <a:ext uri="{FF2B5EF4-FFF2-40B4-BE49-F238E27FC236}">
                <a16:creationId xmlns:a16="http://schemas.microsoft.com/office/drawing/2014/main" id="{32B7047B-98C2-4EBD-AC14-69A4519C7CCF}"/>
              </a:ext>
            </a:extLst>
          </p:cNvPr>
          <p:cNvSpPr>
            <a:spLocks xmlns:a="http://schemas.openxmlformats.org/drawingml/2006/main" noGrp="1"/>
          </p:cNvSpPr>
          <p:nvPr/>
        </p:nvSpPr>
        <p:spPr>
          <a:xfrm xmlns:a="http://schemas.openxmlformats.org/drawingml/2006/main">
            <a:off x="685800" y="56388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Presentation → theory → guided checks → written evidence</a:t>
            </a:r>
          </a:p>
        </p:txBody>
      </p:sp>
    </p:spTree>
    <p:extLst>
      <p:ext uri="{BB962C8B-B14F-4D97-AF65-F5344CB8AC3E}">
        <p14:creationId xmlns:p14="http://schemas.microsoft.com/office/powerpoint/2010/main" val="1877023351"/>
      </p:ext>
    </p:extLst>
  </p:cSld>
</p:sld>
</file>

<file path=ppt/slides/slide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course-label">
            <a:extLst xmlns:a="http://schemas.openxmlformats.org/drawingml/2006/main">
              <a:ext uri="{FF2B5EF4-FFF2-40B4-BE49-F238E27FC236}">
                <a16:creationId xmlns:a16="http://schemas.microsoft.com/office/drawing/2014/main" id="{E2562557-0388-427F-B00E-775DFB66E526}"/>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SHEET-METAL TOOLBOX · MODULE 3</a:t>
            </a:r>
          </a:p>
        </p:txBody>
      </p:sp>
      <p:sp>
        <p:nvSpPr>
          <p:cNvPr id="2" name="slide-label">
            <a:extLst xmlns:a="http://schemas.openxmlformats.org/drawingml/2006/main">
              <a:ext uri="{FF2B5EF4-FFF2-40B4-BE49-F238E27FC236}">
                <a16:creationId xmlns:a16="http://schemas.microsoft.com/office/drawing/2014/main" id="{BC31E060-2C36-4BDB-B2E2-BAD699286445}"/>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THEORY 1</a:t>
            </a:r>
          </a:p>
        </p:txBody>
      </p:sp>
      <p:sp>
        <p:nvSpPr>
          <p:cNvPr id="3" name="theory-title">
            <a:extLst xmlns:a="http://schemas.openxmlformats.org/drawingml/2006/main">
              <a:ext uri="{FF2B5EF4-FFF2-40B4-BE49-F238E27FC236}">
                <a16:creationId xmlns:a16="http://schemas.microsoft.com/office/drawing/2014/main" id="{835B455B-800E-4754-BDAC-63A7EACA3933}"/>
              </a:ext>
            </a:extLst>
          </p:cNvPr>
          <p:cNvSpPr>
            <a:spLocks xmlns:a="http://schemas.openxmlformats.org/drawingml/2006/main" noGrp="1"/>
          </p:cNvSpPr>
          <p:nvPr/>
        </p:nvSpPr>
        <p:spPr>
          <a:xfrm xmlns:a="http://schemas.openxmlformats.org/drawingml/2006/main">
            <a:off x="685800" y="9525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0252B"/>
                </a:solidFill>
              </a:defRPr>
            </a:pPr>
            <a:r>
              <a:rPr sz="3000" b="1">
                <a:solidFill>
                  <a:srgbClr val="10252B"/>
                </a:solidFill>
              </a:rPr>
              <a:t>Accuracy before force</a:t>
            </a:r>
          </a:p>
        </p:txBody>
      </p:sp>
      <p:sp>
        <p:nvSpPr>
          <p:cNvPr id="4" name="understand-label">
            <a:extLst xmlns:a="http://schemas.openxmlformats.org/drawingml/2006/main">
              <a:ext uri="{FF2B5EF4-FFF2-40B4-BE49-F238E27FC236}">
                <a16:creationId xmlns:a16="http://schemas.microsoft.com/office/drawing/2014/main" id="{6FCC9DD2-0250-4B1B-BFF7-9055A60A0E10}"/>
              </a:ext>
            </a:extLst>
          </p:cNvPr>
          <p:cNvSpPr>
            <a:spLocks xmlns:a="http://schemas.openxmlformats.org/drawingml/2006/main" noGrp="1"/>
          </p:cNvSpPr>
          <p:nvPr/>
        </p:nvSpPr>
        <p:spPr>
          <a:xfrm xmlns:a="http://schemas.openxmlformats.org/drawingml/2006/main">
            <a:off x="685800" y="2133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UNDERSTAND THE IDEA</a:t>
            </a:r>
          </a:p>
        </p:txBody>
      </p:sp>
      <p:sp>
        <p:nvSpPr>
          <p:cNvPr id="5" name="understand-copy">
            <a:extLst xmlns:a="http://schemas.openxmlformats.org/drawingml/2006/main">
              <a:ext uri="{FF2B5EF4-FFF2-40B4-BE49-F238E27FC236}">
                <a16:creationId xmlns:a16="http://schemas.microsoft.com/office/drawing/2014/main" id="{E362C38C-DB78-4DC8-AADE-06349C548E51}"/>
              </a:ext>
            </a:extLst>
          </p:cNvPr>
          <p:cNvSpPr>
            <a:spLocks xmlns:a="http://schemas.openxmlformats.org/drawingml/2006/main" noGrp="1"/>
          </p:cNvSpPr>
          <p:nvPr/>
        </p:nvSpPr>
        <p:spPr>
          <a:xfrm xmlns:a="http://schemas.openxmlformats.org/drawingml/2006/main">
            <a:off x="685800" y="2533650"/>
            <a:ext cx="47625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Accurate cutting and forming begin with accurate marking-out. A datum or reference edge provides one reliable starting point, so measurements and lines relate to the same known surface. Follow the teacher demonstration and issued plans for project-specific information. Before any cut or form, check that lines are clear, required features are identified and the waste side is marked correctly.</a:t>
            </a:r>
          </a:p>
        </p:txBody>
      </p:sp>
      <p:sp>
        <p:nvSpPr>
          <p:cNvPr id="6" name="apply-label">
            <a:extLst xmlns:a="http://schemas.openxmlformats.org/drawingml/2006/main">
              <a:ext uri="{FF2B5EF4-FFF2-40B4-BE49-F238E27FC236}">
                <a16:creationId xmlns:a16="http://schemas.microsoft.com/office/drawing/2014/main" id="{A1E65A6E-5F23-41CE-B83B-BCABEC694B44}"/>
              </a:ext>
            </a:extLst>
          </p:cNvPr>
          <p:cNvSpPr>
            <a:spLocks xmlns:a="http://schemas.openxmlformats.org/drawingml/2006/main" noGrp="1"/>
          </p:cNvSpPr>
          <p:nvPr/>
        </p:nvSpPr>
        <p:spPr>
          <a:xfrm xmlns:a="http://schemas.openxmlformats.org/drawingml/2006/main">
            <a:off x="6210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APPLY IT TO THIS PROJECT</a:t>
            </a:r>
          </a:p>
        </p:txBody>
      </p:sp>
      <p:sp>
        <p:nvSpPr>
          <p:cNvPr id="7" name="apply-copy">
            <a:extLst xmlns:a="http://schemas.openxmlformats.org/drawingml/2006/main">
              <a:ext uri="{FF2B5EF4-FFF2-40B4-BE49-F238E27FC236}">
                <a16:creationId xmlns:a16="http://schemas.microsoft.com/office/drawing/2014/main" id="{6996406A-E68A-4291-9DDE-C677D80BD3BD}"/>
              </a:ext>
            </a:extLst>
          </p:cNvPr>
          <p:cNvSpPr>
            <a:spLocks xmlns:a="http://schemas.openxmlformats.org/drawingml/2006/main" noGrp="1"/>
          </p:cNvSpPr>
          <p:nvPr/>
        </p:nvSpPr>
        <p:spPr>
          <a:xfrm xmlns:a="http://schemas.openxmlformats.org/drawingml/2006/main">
            <a:off x="6210300" y="25336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Secure the work using the approved method before cutting, drilling or forming. Do not use extra force to correct a poor line, wrong sequence or moving work. Stop and recheck the datum, waste side, orientation and planned next step. Force cannot repair information that was marked incorrectly at the start.</a:t>
            </a:r>
          </a:p>
        </p:txBody>
      </p:sp>
      <p:sp>
        <p:nvSpPr>
          <p:cNvPr id="8" name="key-point">
            <a:extLst xmlns:a="http://schemas.openxmlformats.org/drawingml/2006/main">
              <a:ext uri="{FF2B5EF4-FFF2-40B4-BE49-F238E27FC236}">
                <a16:creationId xmlns:a16="http://schemas.microsoft.com/office/drawing/2014/main" id="{457B2F6A-9323-41A0-9120-1C563F002149}"/>
              </a:ext>
            </a:extLst>
          </p:cNvPr>
          <p:cNvSpPr>
            <a:spLocks xmlns:a="http://schemas.openxmlformats.org/drawingml/2006/main" noGrp="1"/>
          </p:cNvSpPr>
          <p:nvPr/>
        </p:nvSpPr>
        <p:spPr>
          <a:xfrm xmlns:a="http://schemas.openxmlformats.org/drawingml/2006/main">
            <a:off x="6210300" y="4857750"/>
            <a:ext cx="4762500" cy="990600"/>
          </a:xfrm>
          <a:prstGeom xmlns:a="http://schemas.openxmlformats.org/drawingml/2006/main" prst="roundRect">
            <a:avLst>
              <a:gd name="adj" fmla="val 11538"/>
            </a:avLst>
          </a:prstGeom>
          <a:solidFill xmlns:a="http://schemas.openxmlformats.org/drawingml/2006/main">
            <a:srgbClr val="E6F1F3"/>
          </a:solidFill>
          <a:ln xmlns:a="http://schemas.openxmlformats.org/drawingml/2006/main" w="9525">
            <a:solidFill>
              <a:srgbClr val="B6D0D3"/>
            </a:solidFill>
            <a:prstDash val="solid"/>
          </a:ln>
        </p:spPr>
      </p:sp>
      <p:sp>
        <p:nvSpPr>
          <p:cNvPr id="9" name="key-point-copy">
            <a:extLst xmlns:a="http://schemas.openxmlformats.org/drawingml/2006/main">
              <a:ext uri="{FF2B5EF4-FFF2-40B4-BE49-F238E27FC236}">
                <a16:creationId xmlns:a16="http://schemas.microsoft.com/office/drawing/2014/main" id="{E19EC39B-B4FD-40CC-9098-770924C582DC}"/>
              </a:ext>
            </a:extLst>
          </p:cNvPr>
          <p:cNvSpPr>
            <a:spLocks xmlns:a="http://schemas.openxmlformats.org/drawingml/2006/main" noGrp="1"/>
          </p:cNvSpPr>
          <p:nvPr/>
        </p:nvSpPr>
        <p:spPr>
          <a:xfrm xmlns:a="http://schemas.openxmlformats.org/drawingml/2006/main">
            <a:off x="6477000" y="51054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Datum, waste side, sequence and workholding come before force.</a:t>
            </a:r>
          </a:p>
        </p:txBody>
      </p:sp>
      <p:sp>
        <p:nvSpPr>
          <p:cNvPr id="10" name="source-boundary">
            <a:extLst xmlns:a="http://schemas.openxmlformats.org/drawingml/2006/main">
              <a:ext uri="{FF2B5EF4-FFF2-40B4-BE49-F238E27FC236}">
                <a16:creationId xmlns:a16="http://schemas.microsoft.com/office/drawing/2014/main" id="{F4D7E26C-7B4E-475F-842F-EC0BA438E795}"/>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sheet-metal toolbox drawings, demonstrations and workshop instructions for every practical step.</a:t>
            </a:r>
          </a:p>
        </p:txBody>
      </p:sp>
    </p:spTree>
    <p:extLst>
      <p:ext uri="{BB962C8B-B14F-4D97-AF65-F5344CB8AC3E}">
        <p14:creationId xmlns:p14="http://schemas.microsoft.com/office/powerpoint/2010/main" val="589639172"/>
      </p:ext>
    </p:extLst>
  </p:cSld>
</p:sld>
</file>

<file path=ppt/slides/slide3.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course-label">
            <a:extLst xmlns:a="http://schemas.openxmlformats.org/drawingml/2006/main">
              <a:ext uri="{FF2B5EF4-FFF2-40B4-BE49-F238E27FC236}">
                <a16:creationId xmlns:a16="http://schemas.microsoft.com/office/drawing/2014/main" id="{220AE1BD-69B1-4383-81ED-CB06E9F01203}"/>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SHEET-METAL TOOLBOX · MODULE 3</a:t>
            </a:r>
          </a:p>
        </p:txBody>
      </p:sp>
      <p:sp>
        <p:nvSpPr>
          <p:cNvPr id="2" name="slide-label">
            <a:extLst xmlns:a="http://schemas.openxmlformats.org/drawingml/2006/main">
              <a:ext uri="{FF2B5EF4-FFF2-40B4-BE49-F238E27FC236}">
                <a16:creationId xmlns:a16="http://schemas.microsoft.com/office/drawing/2014/main" id="{695F714C-35CC-4197-B552-0D45CC0071D2}"/>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THEORY 2</a:t>
            </a:r>
          </a:p>
        </p:txBody>
      </p:sp>
      <p:sp>
        <p:nvSpPr>
          <p:cNvPr id="3" name="theory-title">
            <a:extLst xmlns:a="http://schemas.openxmlformats.org/drawingml/2006/main">
              <a:ext uri="{FF2B5EF4-FFF2-40B4-BE49-F238E27FC236}">
                <a16:creationId xmlns:a16="http://schemas.microsoft.com/office/drawing/2014/main" id="{56EB881C-8AD3-494D-BE9E-83F606DE7B82}"/>
              </a:ext>
            </a:extLst>
          </p:cNvPr>
          <p:cNvSpPr>
            <a:spLocks xmlns:a="http://schemas.openxmlformats.org/drawingml/2006/main" noGrp="1"/>
          </p:cNvSpPr>
          <p:nvPr/>
        </p:nvSpPr>
        <p:spPr>
          <a:xfrm xmlns:a="http://schemas.openxmlformats.org/drawingml/2006/main">
            <a:off x="685800" y="9525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0252B"/>
                </a:solidFill>
              </a:defRPr>
            </a:pPr>
            <a:r>
              <a:rPr sz="3000" b="1">
                <a:solidFill>
                  <a:srgbClr val="10252B"/>
                </a:solidFill>
              </a:rPr>
              <a:t>Marking and measuring tools</a:t>
            </a:r>
          </a:p>
        </p:txBody>
      </p:sp>
      <p:sp>
        <p:nvSpPr>
          <p:cNvPr id="4" name="understand-label">
            <a:extLst xmlns:a="http://schemas.openxmlformats.org/drawingml/2006/main">
              <a:ext uri="{FF2B5EF4-FFF2-40B4-BE49-F238E27FC236}">
                <a16:creationId xmlns:a16="http://schemas.microsoft.com/office/drawing/2014/main" id="{6C62A05D-CE52-48E0-A036-F81CAAB500BB}"/>
              </a:ext>
            </a:extLst>
          </p:cNvPr>
          <p:cNvSpPr>
            <a:spLocks xmlns:a="http://schemas.openxmlformats.org/drawingml/2006/main" noGrp="1"/>
          </p:cNvSpPr>
          <p:nvPr/>
        </p:nvSpPr>
        <p:spPr>
          <a:xfrm xmlns:a="http://schemas.openxmlformats.org/drawingml/2006/main">
            <a:off x="685800" y="2133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UNDERSTAND THE IDEA</a:t>
            </a:r>
          </a:p>
        </p:txBody>
      </p:sp>
      <p:sp>
        <p:nvSpPr>
          <p:cNvPr id="5" name="understand-copy">
            <a:extLst xmlns:a="http://schemas.openxmlformats.org/drawingml/2006/main">
              <a:ext uri="{FF2B5EF4-FFF2-40B4-BE49-F238E27FC236}">
                <a16:creationId xmlns:a16="http://schemas.microsoft.com/office/drawing/2014/main" id="{0B528B32-A3B9-46F3-AD94-8F8F74E4BFED}"/>
              </a:ext>
            </a:extLst>
          </p:cNvPr>
          <p:cNvSpPr>
            <a:spLocks xmlns:a="http://schemas.openxmlformats.org/drawingml/2006/main" noGrp="1"/>
          </p:cNvSpPr>
          <p:nvPr/>
        </p:nvSpPr>
        <p:spPr>
          <a:xfrm xmlns:a="http://schemas.openxmlformats.org/drawingml/2006/main">
            <a:off x="685800" y="2533650"/>
            <a:ext cx="47625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Select the measuring and marking tools demonstrated for the feature: a steel rule or tape for suitable lengths, a square for perpendicular references, a scriber for clear layout lines and a centre punch for an approved hole location.</a:t>
            </a:r>
          </a:p>
        </p:txBody>
      </p:sp>
      <p:sp>
        <p:nvSpPr>
          <p:cNvPr id="6" name="apply-label">
            <a:extLst xmlns:a="http://schemas.openxmlformats.org/drawingml/2006/main">
              <a:ext uri="{FF2B5EF4-FFF2-40B4-BE49-F238E27FC236}">
                <a16:creationId xmlns:a16="http://schemas.microsoft.com/office/drawing/2014/main" id="{EBD896FB-341D-4EA0-A7AC-307606C33629}"/>
              </a:ext>
            </a:extLst>
          </p:cNvPr>
          <p:cNvSpPr>
            <a:spLocks xmlns:a="http://schemas.openxmlformats.org/drawingml/2006/main" noGrp="1"/>
          </p:cNvSpPr>
          <p:nvPr/>
        </p:nvSpPr>
        <p:spPr>
          <a:xfrm xmlns:a="http://schemas.openxmlformats.org/drawingml/2006/main">
            <a:off x="6210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APPLY IT TO THIS PROJECT</a:t>
            </a:r>
          </a:p>
        </p:txBody>
      </p:sp>
      <p:sp>
        <p:nvSpPr>
          <p:cNvPr id="7" name="apply-copy">
            <a:extLst xmlns:a="http://schemas.openxmlformats.org/drawingml/2006/main">
              <a:ext uri="{FF2B5EF4-FFF2-40B4-BE49-F238E27FC236}">
                <a16:creationId xmlns:a16="http://schemas.microsoft.com/office/drawing/2014/main" id="{E06E284D-DB03-492A-8651-3160417D182B}"/>
              </a:ext>
            </a:extLst>
          </p:cNvPr>
          <p:cNvSpPr>
            <a:spLocks xmlns:a="http://schemas.openxmlformats.org/drawingml/2006/main" noGrp="1"/>
          </p:cNvSpPr>
          <p:nvPr/>
        </p:nvSpPr>
        <p:spPr>
          <a:xfrm xmlns:a="http://schemas.openxmlformats.org/drawingml/2006/main">
            <a:off x="6210300" y="25336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Measurement accuracy prevents wasted material. Read the issued dimension, work from the approved reference and complete an independent recheck before the material enters a cutting, drilling or forming setup.</a:t>
            </a:r>
          </a:p>
        </p:txBody>
      </p:sp>
      <p:sp>
        <p:nvSpPr>
          <p:cNvPr id="8" name="key-point">
            <a:extLst xmlns:a="http://schemas.openxmlformats.org/drawingml/2006/main">
              <a:ext uri="{FF2B5EF4-FFF2-40B4-BE49-F238E27FC236}">
                <a16:creationId xmlns:a16="http://schemas.microsoft.com/office/drawing/2014/main" id="{06766C29-C922-49ED-BC01-5E7BDB32006C}"/>
              </a:ext>
            </a:extLst>
          </p:cNvPr>
          <p:cNvSpPr>
            <a:spLocks xmlns:a="http://schemas.openxmlformats.org/drawingml/2006/main" noGrp="1"/>
          </p:cNvSpPr>
          <p:nvPr/>
        </p:nvSpPr>
        <p:spPr>
          <a:xfrm xmlns:a="http://schemas.openxmlformats.org/drawingml/2006/main">
            <a:off x="6210300" y="4857750"/>
            <a:ext cx="4762500" cy="990600"/>
          </a:xfrm>
          <a:prstGeom xmlns:a="http://schemas.openxmlformats.org/drawingml/2006/main" prst="roundRect">
            <a:avLst>
              <a:gd name="adj" fmla="val 11538"/>
            </a:avLst>
          </a:prstGeom>
          <a:solidFill xmlns:a="http://schemas.openxmlformats.org/drawingml/2006/main">
            <a:srgbClr val="E6F1F3"/>
          </a:solidFill>
          <a:ln xmlns:a="http://schemas.openxmlformats.org/drawingml/2006/main" w="9525">
            <a:solidFill>
              <a:srgbClr val="B6D0D3"/>
            </a:solidFill>
            <a:prstDash val="solid"/>
          </a:ln>
        </p:spPr>
      </p:sp>
      <p:sp>
        <p:nvSpPr>
          <p:cNvPr id="9" name="key-point-copy">
            <a:extLst xmlns:a="http://schemas.openxmlformats.org/drawingml/2006/main">
              <a:ext uri="{FF2B5EF4-FFF2-40B4-BE49-F238E27FC236}">
                <a16:creationId xmlns:a16="http://schemas.microsoft.com/office/drawing/2014/main" id="{40169602-71F1-45A4-9E1A-82086FE1A279}"/>
              </a:ext>
            </a:extLst>
          </p:cNvPr>
          <p:cNvSpPr>
            <a:spLocks xmlns:a="http://schemas.openxmlformats.org/drawingml/2006/main" noGrp="1"/>
          </p:cNvSpPr>
          <p:nvPr/>
        </p:nvSpPr>
        <p:spPr>
          <a:xfrm xmlns:a="http://schemas.openxmlformats.org/drawingml/2006/main">
            <a:off x="6477000" y="51054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The best cutting tool cannot rescue an incorrect line.</a:t>
            </a:r>
          </a:p>
        </p:txBody>
      </p:sp>
      <p:sp>
        <p:nvSpPr>
          <p:cNvPr id="10" name="source-boundary">
            <a:extLst xmlns:a="http://schemas.openxmlformats.org/drawingml/2006/main">
              <a:ext uri="{FF2B5EF4-FFF2-40B4-BE49-F238E27FC236}">
                <a16:creationId xmlns:a16="http://schemas.microsoft.com/office/drawing/2014/main" id="{2C4EBC03-606D-4566-B666-4E55595BD855}"/>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sheet-metal toolbox drawings, demonstrations and workshop instructions for every practical step.</a:t>
            </a:r>
          </a:p>
        </p:txBody>
      </p:sp>
    </p:spTree>
    <p:extLst>
      <p:ext uri="{BB962C8B-B14F-4D97-AF65-F5344CB8AC3E}">
        <p14:creationId xmlns:p14="http://schemas.microsoft.com/office/powerpoint/2010/main" val="2035422058"/>
      </p:ext>
    </p:extLst>
  </p:cSld>
</p:sld>
</file>

<file path=ppt/slides/slide4.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course-label">
            <a:extLst xmlns:a="http://schemas.openxmlformats.org/drawingml/2006/main">
              <a:ext uri="{FF2B5EF4-FFF2-40B4-BE49-F238E27FC236}">
                <a16:creationId xmlns:a16="http://schemas.microsoft.com/office/drawing/2014/main" id="{D2CF1429-4C27-429C-A06E-8A09389EBAAA}"/>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SHEET-METAL TOOLBOX · MODULE 3</a:t>
            </a:r>
          </a:p>
        </p:txBody>
      </p:sp>
      <p:sp>
        <p:nvSpPr>
          <p:cNvPr id="2" name="slide-label">
            <a:extLst xmlns:a="http://schemas.openxmlformats.org/drawingml/2006/main">
              <a:ext uri="{FF2B5EF4-FFF2-40B4-BE49-F238E27FC236}">
                <a16:creationId xmlns:a16="http://schemas.microsoft.com/office/drawing/2014/main" id="{6A67F990-3620-4F01-968D-0F45DCC69B34}"/>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THEORY 3</a:t>
            </a:r>
          </a:p>
        </p:txBody>
      </p:sp>
      <p:sp>
        <p:nvSpPr>
          <p:cNvPr id="3" name="theory-title">
            <a:extLst xmlns:a="http://schemas.openxmlformats.org/drawingml/2006/main">
              <a:ext uri="{FF2B5EF4-FFF2-40B4-BE49-F238E27FC236}">
                <a16:creationId xmlns:a16="http://schemas.microsoft.com/office/drawing/2014/main" id="{A249903F-DB3E-42B5-B10E-C4A43FBCBC08}"/>
              </a:ext>
            </a:extLst>
          </p:cNvPr>
          <p:cNvSpPr>
            <a:spLocks xmlns:a="http://schemas.openxmlformats.org/drawingml/2006/main" noGrp="1"/>
          </p:cNvSpPr>
          <p:nvPr/>
        </p:nvSpPr>
        <p:spPr>
          <a:xfrm xmlns:a="http://schemas.openxmlformats.org/drawingml/2006/main">
            <a:off x="685800" y="9525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0252B"/>
                </a:solidFill>
              </a:defRPr>
            </a:pPr>
            <a:r>
              <a:rPr sz="3000" b="1">
                <a:solidFill>
                  <a:srgbClr val="10252B"/>
                </a:solidFill>
              </a:rPr>
              <a:t>Cutting and forming sequence</a:t>
            </a:r>
          </a:p>
        </p:txBody>
      </p:sp>
      <p:sp>
        <p:nvSpPr>
          <p:cNvPr id="4" name="understand-label">
            <a:extLst xmlns:a="http://schemas.openxmlformats.org/drawingml/2006/main">
              <a:ext uri="{FF2B5EF4-FFF2-40B4-BE49-F238E27FC236}">
                <a16:creationId xmlns:a16="http://schemas.microsoft.com/office/drawing/2014/main" id="{38DAF148-196E-4D2C-9DD3-F739CF2BA47C}"/>
              </a:ext>
            </a:extLst>
          </p:cNvPr>
          <p:cNvSpPr>
            <a:spLocks xmlns:a="http://schemas.openxmlformats.org/drawingml/2006/main" noGrp="1"/>
          </p:cNvSpPr>
          <p:nvPr/>
        </p:nvSpPr>
        <p:spPr>
          <a:xfrm xmlns:a="http://schemas.openxmlformats.org/drawingml/2006/main">
            <a:off x="685800" y="2133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UNDERSTAND THE IDEA</a:t>
            </a:r>
          </a:p>
        </p:txBody>
      </p:sp>
      <p:sp>
        <p:nvSpPr>
          <p:cNvPr id="5" name="understand-copy">
            <a:extLst xmlns:a="http://schemas.openxmlformats.org/drawingml/2006/main">
              <a:ext uri="{FF2B5EF4-FFF2-40B4-BE49-F238E27FC236}">
                <a16:creationId xmlns:a16="http://schemas.microsoft.com/office/drawing/2014/main" id="{F7A0EB31-2926-4BA6-BE6C-F16BA363227C}"/>
              </a:ext>
            </a:extLst>
          </p:cNvPr>
          <p:cNvSpPr>
            <a:spLocks xmlns:a="http://schemas.openxmlformats.org/drawingml/2006/main" noGrp="1"/>
          </p:cNvSpPr>
          <p:nvPr/>
        </p:nvSpPr>
        <p:spPr>
          <a:xfrm xmlns:a="http://schemas.openxmlformats.org/drawingml/2006/main">
            <a:off x="685800" y="2533650"/>
            <a:ext cx="47625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Use only the cutting or forming process shown for the material and feature. Support large or awkward material, keep hands outside the demonstrated danger zone and remove burrs using the approved process before passing work to the next stage.</a:t>
            </a:r>
          </a:p>
        </p:txBody>
      </p:sp>
      <p:sp>
        <p:nvSpPr>
          <p:cNvPr id="6" name="apply-label">
            <a:extLst xmlns:a="http://schemas.openxmlformats.org/drawingml/2006/main">
              <a:ext uri="{FF2B5EF4-FFF2-40B4-BE49-F238E27FC236}">
                <a16:creationId xmlns:a16="http://schemas.microsoft.com/office/drawing/2014/main" id="{E45DE6C4-7289-4086-AA9C-229EEA37F4E6}"/>
              </a:ext>
            </a:extLst>
          </p:cNvPr>
          <p:cNvSpPr>
            <a:spLocks xmlns:a="http://schemas.openxmlformats.org/drawingml/2006/main" noGrp="1"/>
          </p:cNvSpPr>
          <p:nvPr/>
        </p:nvSpPr>
        <p:spPr>
          <a:xfrm xmlns:a="http://schemas.openxmlformats.org/drawingml/2006/main">
            <a:off x="6210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APPLY IT TO THIS PROJECT</a:t>
            </a:r>
          </a:p>
        </p:txBody>
      </p:sp>
      <p:sp>
        <p:nvSpPr>
          <p:cNvPr id="7" name="apply-copy">
            <a:extLst xmlns:a="http://schemas.openxmlformats.org/drawingml/2006/main">
              <a:ext uri="{FF2B5EF4-FFF2-40B4-BE49-F238E27FC236}">
                <a16:creationId xmlns:a16="http://schemas.microsoft.com/office/drawing/2014/main" id="{9BB384F4-4FF7-4E88-ABE9-328667768465}"/>
              </a:ext>
            </a:extLst>
          </p:cNvPr>
          <p:cNvSpPr>
            <a:spLocks xmlns:a="http://schemas.openxmlformats.org/drawingml/2006/main" noGrp="1"/>
          </p:cNvSpPr>
          <p:nvPr/>
        </p:nvSpPr>
        <p:spPr>
          <a:xfrm xmlns:a="http://schemas.openxmlformats.org/drawingml/2006/main">
            <a:off x="6210300" y="25336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Forming order can affect later dimensions, hole positions and access. Trial or check at the teacher-specified points, and record what changed rather than forcing a part to match.</a:t>
            </a:r>
          </a:p>
        </p:txBody>
      </p:sp>
      <p:sp>
        <p:nvSpPr>
          <p:cNvPr id="8" name="key-point">
            <a:extLst xmlns:a="http://schemas.openxmlformats.org/drawingml/2006/main">
              <a:ext uri="{FF2B5EF4-FFF2-40B4-BE49-F238E27FC236}">
                <a16:creationId xmlns:a16="http://schemas.microsoft.com/office/drawing/2014/main" id="{B1345920-B95F-4F90-9642-6E79E4B91876}"/>
              </a:ext>
            </a:extLst>
          </p:cNvPr>
          <p:cNvSpPr>
            <a:spLocks xmlns:a="http://schemas.openxmlformats.org/drawingml/2006/main" noGrp="1"/>
          </p:cNvSpPr>
          <p:nvPr/>
        </p:nvSpPr>
        <p:spPr>
          <a:xfrm xmlns:a="http://schemas.openxmlformats.org/drawingml/2006/main">
            <a:off x="6210300" y="4857750"/>
            <a:ext cx="4762500" cy="990600"/>
          </a:xfrm>
          <a:prstGeom xmlns:a="http://schemas.openxmlformats.org/drawingml/2006/main" prst="roundRect">
            <a:avLst>
              <a:gd name="adj" fmla="val 11538"/>
            </a:avLst>
          </a:prstGeom>
          <a:solidFill xmlns:a="http://schemas.openxmlformats.org/drawingml/2006/main">
            <a:srgbClr val="E6F1F3"/>
          </a:solidFill>
          <a:ln xmlns:a="http://schemas.openxmlformats.org/drawingml/2006/main" w="9525">
            <a:solidFill>
              <a:srgbClr val="B6D0D3"/>
            </a:solidFill>
            <a:prstDash val="solid"/>
          </a:ln>
        </p:spPr>
      </p:sp>
      <p:sp>
        <p:nvSpPr>
          <p:cNvPr id="9" name="key-point-copy">
            <a:extLst xmlns:a="http://schemas.openxmlformats.org/drawingml/2006/main">
              <a:ext uri="{FF2B5EF4-FFF2-40B4-BE49-F238E27FC236}">
                <a16:creationId xmlns:a16="http://schemas.microsoft.com/office/drawing/2014/main" id="{74219C3B-406F-46A9-A61B-BD81B69B04E1}"/>
              </a:ext>
            </a:extLst>
          </p:cNvPr>
          <p:cNvSpPr>
            <a:spLocks xmlns:a="http://schemas.openxmlformats.org/drawingml/2006/main" noGrp="1"/>
          </p:cNvSpPr>
          <p:nvPr/>
        </p:nvSpPr>
        <p:spPr>
          <a:xfrm xmlns:a="http://schemas.openxmlformats.org/drawingml/2006/main">
            <a:off x="6477000" y="51054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Each irreversible step needs a check before and evidence after.</a:t>
            </a:r>
          </a:p>
        </p:txBody>
      </p:sp>
      <p:sp>
        <p:nvSpPr>
          <p:cNvPr id="10" name="source-boundary">
            <a:extLst xmlns:a="http://schemas.openxmlformats.org/drawingml/2006/main">
              <a:ext uri="{FF2B5EF4-FFF2-40B4-BE49-F238E27FC236}">
                <a16:creationId xmlns:a16="http://schemas.microsoft.com/office/drawing/2014/main" id="{403BDBDF-8B8E-41A8-A7B1-5970768EECF6}"/>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sheet-metal toolbox drawings, demonstrations and workshop instructions for every practical step.</a:t>
            </a:r>
          </a:p>
        </p:txBody>
      </p:sp>
    </p:spTree>
    <p:extLst>
      <p:ext uri="{BB962C8B-B14F-4D97-AF65-F5344CB8AC3E}">
        <p14:creationId xmlns:p14="http://schemas.microsoft.com/office/powerpoint/2010/main" val="1724890488"/>
      </p:ext>
    </p:extLst>
  </p:cSld>
</p:sld>
</file>

<file path=ppt/slides/slide5.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9" name="course-label">
            <a:extLst xmlns:a="http://schemas.openxmlformats.org/drawingml/2006/main">
              <a:ext uri="{FF2B5EF4-FFF2-40B4-BE49-F238E27FC236}">
                <a16:creationId xmlns:a16="http://schemas.microsoft.com/office/drawing/2014/main" id="{582878AC-F1AC-4470-93E4-4FE5233DDA35}"/>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SHEET-METAL TOOLBOX · MODULE 3</a:t>
            </a:r>
          </a:p>
        </p:txBody>
      </p:sp>
      <p:sp>
        <p:nvSpPr>
          <p:cNvPr id="2" name="slide-label">
            <a:extLst xmlns:a="http://schemas.openxmlformats.org/drawingml/2006/main">
              <a:ext uri="{FF2B5EF4-FFF2-40B4-BE49-F238E27FC236}">
                <a16:creationId xmlns:a16="http://schemas.microsoft.com/office/drawing/2014/main" id="{994C7F90-3061-46FA-836E-B0AE59C9B12D}"/>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SAVE EVIDENCE</a:t>
            </a:r>
          </a:p>
        </p:txBody>
      </p:sp>
      <p:sp>
        <p:nvSpPr>
          <p:cNvPr id="3" name="evidence-title">
            <a:extLst xmlns:a="http://schemas.openxmlformats.org/drawingml/2006/main">
              <a:ext uri="{FF2B5EF4-FFF2-40B4-BE49-F238E27FC236}">
                <a16:creationId xmlns:a16="http://schemas.microsoft.com/office/drawing/2014/main" id="{B03668D7-A4AB-4B34-9D8C-9BCFD9247A1C}"/>
              </a:ext>
            </a:extLst>
          </p:cNvPr>
          <p:cNvSpPr>
            <a:spLocks xmlns:a="http://schemas.openxmlformats.org/drawingml/2006/main" noGrp="1"/>
          </p:cNvSpPr>
          <p:nvPr/>
        </p:nvSpPr>
        <p:spPr>
          <a:xfrm xmlns:a="http://schemas.openxmlformats.org/drawingml/2006/main">
            <a:off x="685800" y="1000125"/>
            <a:ext cx="542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300" b="1">
                <a:solidFill>
                  <a:srgbClr val="10252B"/>
                </a:solidFill>
              </a:defRPr>
            </a:pPr>
            <a:r>
              <a:rPr sz="3300" b="1">
                <a:solidFill>
                  <a:srgbClr val="10252B"/>
                </a:solidFill>
              </a:rPr>
              <a:t>Explain your thinking</a:t>
            </a:r>
          </a:p>
        </p:txBody>
      </p:sp>
      <p:sp>
        <p:nvSpPr>
          <p:cNvPr id="4" name="evidence-prompt">
            <a:extLst xmlns:a="http://schemas.openxmlformats.org/drawingml/2006/main">
              <a:ext uri="{FF2B5EF4-FFF2-40B4-BE49-F238E27FC236}">
                <a16:creationId xmlns:a16="http://schemas.microsoft.com/office/drawing/2014/main" id="{0ADA071C-0216-490B-9A2D-93083A4E8C3D}"/>
              </a:ext>
            </a:extLst>
          </p:cNvPr>
          <p:cNvSpPr>
            <a:spLocks xmlns:a="http://schemas.openxmlformats.org/drawingml/2006/main" noGrp="1"/>
          </p:cNvSpPr>
          <p:nvPr/>
        </p:nvSpPr>
        <p:spPr>
          <a:xfrm xmlns:a="http://schemas.openxmlformats.org/drawingml/2006/main">
            <a:off x="685800" y="1962150"/>
            <a:ext cx="5000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10252B"/>
                </a:solidFill>
              </a:defRPr>
            </a:pPr>
            <a:r>
              <a:rPr sz="1800">
                <a:solidFill>
                  <a:srgbClr val="10252B"/>
                </a:solidFill>
              </a:rPr>
              <a:t>Explain how a datum edge, waste-side marking, planned sequence and secure workholding can improve the quality of a sheet-metal project.</a:t>
            </a:r>
          </a:p>
        </p:txBody>
      </p:sp>
      <p:sp>
        <p:nvSpPr>
          <p:cNvPr id="5" name="evidence-reminder">
            <a:extLst xmlns:a="http://schemas.openxmlformats.org/drawingml/2006/main">
              <a:ext uri="{FF2B5EF4-FFF2-40B4-BE49-F238E27FC236}">
                <a16:creationId xmlns:a16="http://schemas.microsoft.com/office/drawing/2014/main" id="{2BB7A306-7FA4-46C9-8CA0-CCFA4A62F2F0}"/>
              </a:ext>
            </a:extLst>
          </p:cNvPr>
          <p:cNvSpPr>
            <a:spLocks xmlns:a="http://schemas.openxmlformats.org/drawingml/2006/main" noGrp="1"/>
          </p:cNvSpPr>
          <p:nvPr/>
        </p:nvSpPr>
        <p:spPr>
          <a:xfrm xmlns:a="http://schemas.openxmlformats.org/drawingml/2006/main">
            <a:off x="685800" y="4267200"/>
            <a:ext cx="5000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74F5D"/>
                </a:solidFill>
              </a:defRPr>
            </a:pPr>
            <a:r>
              <a:rPr sz="1500" b="1">
                <a:solidFill>
                  <a:srgbClr val="174F5D"/>
                </a:solidFill>
              </a:rPr>
              <a:t>Use your own project evidence. Save or print your response as directed by your teacher.</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f7a3af001854b59"/>
          <a:srcRect xmlns:a="http://schemas.openxmlformats.org/drawingml/2006/main" l="13761" t="0" r="13761" b="0"/>
          <a:stretch xmlns:a="http://schemas.openxmlformats.org/drawingml/2006/main">
            <a:fillRect l="0" t="0" r="0" b="0"/>
          </a:stretch>
        </p:blipFill>
        <p:spPr>
          <a:xfrm xmlns:a="http://schemas.openxmlformats.org/drawingml/2006/main">
            <a:off x="6477000" y="1276350"/>
            <a:ext cx="5029200" cy="3905250"/>
          </a:xfrm>
          <a:prstGeom xmlns:a="http://schemas.openxmlformats.org/drawingml/2006/main" prst="roundRect">
            <a:avLst>
              <a:gd name="adj" fmla="val 2927"/>
            </a:avLst>
          </a:prstGeom>
        </p:spPr>
      </p:pic>
      <p:sp>
        <p:nvSpPr>
          <p:cNvPr id="7" name="completion">
            <a:extLst xmlns:a="http://schemas.openxmlformats.org/drawingml/2006/main">
              <a:ext uri="{FF2B5EF4-FFF2-40B4-BE49-F238E27FC236}">
                <a16:creationId xmlns:a16="http://schemas.microsoft.com/office/drawing/2014/main" id="{A6ABA33B-817D-406B-BE91-9FA68CCBDD42}"/>
              </a:ext>
            </a:extLst>
          </p:cNvPr>
          <p:cNvSpPr>
            <a:spLocks xmlns:a="http://schemas.openxmlformats.org/drawingml/2006/main" noGrp="1"/>
          </p:cNvSpPr>
          <p:nvPr/>
        </p:nvSpPr>
        <p:spPr>
          <a:xfrm xmlns:a="http://schemas.openxmlformats.org/drawingml/2006/main">
            <a:off x="6477000" y="5467350"/>
            <a:ext cx="5029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Complete the checks and written response on the course website.</a:t>
            </a:r>
          </a:p>
        </p:txBody>
      </p:sp>
      <p:sp>
        <p:nvSpPr>
          <p:cNvPr id="8" name="source-boundary">
            <a:extLst xmlns:a="http://schemas.openxmlformats.org/drawingml/2006/main">
              <a:ext uri="{FF2B5EF4-FFF2-40B4-BE49-F238E27FC236}">
                <a16:creationId xmlns:a16="http://schemas.microsoft.com/office/drawing/2014/main" id="{1D2B1112-6467-4113-A342-4E4F47C08601}"/>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sheet-metal toolbox drawings, demonstrations and workshop instructions for every practical step.</a:t>
            </a:r>
          </a:p>
        </p:txBody>
      </p:sp>
    </p:spTree>
    <p:extLst>
      <p:ext uri="{BB962C8B-B14F-4D97-AF65-F5344CB8AC3E}">
        <p14:creationId xmlns:p14="http://schemas.microsoft.com/office/powerpoint/2010/main" val="21109094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2026-08-15T12:46:23.2790000Z</dcterms:created>
  <dcterms:modified xsi:type="dcterms:W3CDTF">2026-08-15T12:46:23.2790000Z</dcterms:modified>
</coreProperties>
</file>