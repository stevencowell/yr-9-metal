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60d3f3eb1749a4" /><Relationship Type="http://schemas.openxmlformats.org/officeDocument/2006/relationships/extended-properties" Target="/docProps/app.xml" Id="R1358456b2c9541f1" /><Relationship Type="http://schemas.openxmlformats.org/officeDocument/2006/relationships/officeDocument" Target="/ppt/presentation.xml" Id="R85c4dca559c94ba5" /></Relationships>
</file>

<file path=ppt/presentation.xml><?xml version="1.0" encoding="utf-8"?>
<p:presentation xmlns:p="http://schemas.openxmlformats.org/presentationml/2006/main">
  <p:sldMasterIdLst>
    <p:sldMasterId xmlns:r="http://schemas.openxmlformats.org/officeDocument/2006/relationships" id="2147483648" r:id="R2f63e96ef95f4692"/>
  </p:sldMasterIdLst>
  <p:notesMasterIdLst>
    <p:notesMasterId xmlns:r="http://schemas.openxmlformats.org/officeDocument/2006/relationships" r:id="R02a961391b00497e"/>
  </p:notesMasterIdLst>
  <p:sldIdLst>
    <p:sldId xmlns:r="http://schemas.openxmlformats.org/officeDocument/2006/relationships" id="256" r:id="Rb19e6c71e68e4e07"/>
    <p:sldId xmlns:r="http://schemas.openxmlformats.org/officeDocument/2006/relationships" id="257" r:id="Rfae97134a23e446b"/>
    <p:sldId xmlns:r="http://schemas.openxmlformats.org/officeDocument/2006/relationships" id="258" r:id="R4e19ad3fb21c4da3"/>
    <p:sldId xmlns:r="http://schemas.openxmlformats.org/officeDocument/2006/relationships" id="259" r:id="Ra8c0af5100b845ef"/>
    <p:sldId xmlns:r="http://schemas.openxmlformats.org/officeDocument/2006/relationships" id="260" r:id="Rccc6bdbef22a45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36925d7ea34c52" /><Relationship Type="http://schemas.openxmlformats.org/officeDocument/2006/relationships/slideMaster" Target="/ppt/slideMasters/slideMaster1.xml" Id="R2f63e96ef95f4692" /><Relationship Type="http://schemas.openxmlformats.org/officeDocument/2006/relationships/notesMaster" Target="/ppt/notesMasters/notesMaster1.xml" Id="R02a961391b00497e" /><Relationship Type="http://schemas.openxmlformats.org/officeDocument/2006/relationships/presProps" Target="/ppt/presProps.xml" Id="R5bdf73cc49764ff6" /><Relationship Type="http://schemas.openxmlformats.org/officeDocument/2006/relationships/tableStyles" Target="/ppt/tableStyles.xml" Id="R6dd51d09b58b45d8" /><Relationship Type="http://schemas.openxmlformats.org/officeDocument/2006/relationships/slide" Target="/ppt/slides/slide1.xml" Id="Rb19e6c71e68e4e07" /><Relationship Type="http://schemas.openxmlformats.org/officeDocument/2006/relationships/slide" Target="/ppt/slides/slide2.xml" Id="Rfae97134a23e446b" /><Relationship Type="http://schemas.openxmlformats.org/officeDocument/2006/relationships/slide" Target="/ppt/slides/slide3.xml" Id="R4e19ad3fb21c4da3" /><Relationship Type="http://schemas.openxmlformats.org/officeDocument/2006/relationships/slide" Target="/ppt/slides/slide4.xml" Id="Ra8c0af5100b845ef" /><Relationship Type="http://schemas.openxmlformats.org/officeDocument/2006/relationships/slide" Target="/ppt/slides/slide5.xml" Id="Rccc6bdbef22a45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c3c855be274f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f3438d817347f5" /><Relationship Type="http://schemas.openxmlformats.org/officeDocument/2006/relationships/notesMaster" Target="/ppt/notesMasters/notesMaster1.xml" Id="Raa49408ac1c34b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780b365d314a58" /><Relationship Type="http://schemas.openxmlformats.org/officeDocument/2006/relationships/notesMaster" Target="/ppt/notesMasters/notesMaster1.xml" Id="Rddfd5ef07ebd41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e240de13104f8b" /><Relationship Type="http://schemas.openxmlformats.org/officeDocument/2006/relationships/notesMaster" Target="/ppt/notesMasters/notesMaster1.xml" Id="R19a1e2f7e75544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1cab44bc254fdd" /><Relationship Type="http://schemas.openxmlformats.org/officeDocument/2006/relationships/notesMaster" Target="/ppt/notesMasters/notesMaster1.xml" Id="Raff474c054964b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39280e706b4bf0" /><Relationship Type="http://schemas.openxmlformats.org/officeDocument/2006/relationships/notesMaster" Target="/ppt/notesMasters/notesMaster1.xml" Id="R9daafe7e97a44a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ac7513948645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6d6ddebfc54742" /><Relationship Type="http://schemas.openxmlformats.org/officeDocument/2006/relationships/slideLayout" Target="/ppt/slideLayouts/slideLayout1.xml" Id="R974990515fec4d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4990515fec4d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25e8440fddb4d8b" /><Relationship Type="http://schemas.openxmlformats.org/officeDocument/2006/relationships/image" Target="/ppt/media/image.bin" Id="R1ea5011d6f7846dc" /><Relationship Type="http://schemas.openxmlformats.org/officeDocument/2006/relationships/notesSlide" Target="/ppt/notesSlides/notesSlide1.xml" Id="Rfe43f69cdc144b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944da95c3844ebb" /><Relationship Type="http://schemas.openxmlformats.org/officeDocument/2006/relationships/notesSlide" Target="/ppt/notesSlides/notesSlide2.xml" Id="Rc81a5d5c973c4a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217ce519e9f4731" /><Relationship Type="http://schemas.openxmlformats.org/officeDocument/2006/relationships/notesSlide" Target="/ppt/notesSlides/notesSlide3.xml" Id="Rad5db66a102442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909d88d91d4218" /><Relationship Type="http://schemas.openxmlformats.org/officeDocument/2006/relationships/notesSlide" Target="/ppt/notesSlides/notesSlide4.xml" Id="Rc1f36b4ad04e48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8c4e1d741a4f7b" /><Relationship Type="http://schemas.openxmlformats.org/officeDocument/2006/relationships/image" Target="/ppt/media/image.png" Id="R702f219f31574c39" /><Relationship Type="http://schemas.openxmlformats.org/officeDocument/2006/relationships/notesSlide" Target="/ppt/notesSlides/notesSlide5.xml" Id="R77459cdba239479e" /></Relationships>
</file>

<file path=ppt/slides/slide1.xml><?xml version="1.0" encoding="utf-8"?>
<p:sld xmlns:p="http://schemas.openxmlformats.org/presentationml/2006/main">
  <p:cSld>
    <p:bg>
      <p:bgPr>
        <a:solidFill xmlns:a="http://schemas.openxmlformats.org/drawingml/2006/main">
          <a:srgbClr val="0B303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ea5011d6f7846dc"/>
          <a:srcRect xmlns:a="http://schemas.openxmlformats.org/drawingml/2006/main" l="21296" t="0" r="21296" b="0"/>
          <a:stretch xmlns:a="http://schemas.openxmlformats.org/drawingml/2006/main">
            <a:fillRect l="0" t="0" r="0" b="0"/>
          </a:stretch>
        </p:blipFill>
        <p:spPr>
          <a:xfrm xmlns:a="http://schemas.openxmlformats.org/drawingml/2006/main">
            <a:off x="6286500" y="0"/>
            <a:ext cx="5905500" cy="6858000"/>
          </a:xfrm>
          <a:prstGeom xmlns:a="http://schemas.openxmlformats.org/drawingml/2006/main" prst="rect">
            <a:avLst/>
          </a:prstGeom>
        </p:spPr>
      </p:pic>
      <p:sp>
        <p:nvSpPr>
          <p:cNvPr id="2" name="image-overlay">
            <a:extLst xmlns:a="http://schemas.openxmlformats.org/drawingml/2006/main">
              <a:ext uri="{FF2B5EF4-FFF2-40B4-BE49-F238E27FC236}">
                <a16:creationId xmlns:a16="http://schemas.microsoft.com/office/drawing/2014/main" id="{A9C877D5-40AB-4449-AB86-443D4F5C1F6E}"/>
              </a:ext>
            </a:extLst>
          </p:cNvPr>
          <p:cNvSpPr>
            <a:spLocks xmlns:a="http://schemas.openxmlformats.org/drawingml/2006/main" noGrp="1"/>
          </p:cNvSpPr>
          <p:nvPr/>
        </p:nvSpPr>
        <p:spPr>
          <a:xfrm xmlns:a="http://schemas.openxmlformats.org/drawingml/2006/main">
            <a:off x="5810250" y="0"/>
            <a:ext cx="1714500" cy="6858000"/>
          </a:xfrm>
          <a:prstGeom xmlns:a="http://schemas.openxmlformats.org/drawingml/2006/main" prst="rect">
            <a:avLst/>
          </a:prstGeom>
          <a:ln xmlns:a="http://schemas.openxmlformats.org/drawingml/2006/main" w="0">
            <a:noFill/>
            <a:prstDash val="solid"/>
          </a:ln>
        </p:spPr>
      </p:sp>
      <p:sp>
        <p:nvSpPr>
          <p:cNvPr id="3" name="module-kicker">
            <a:extLst xmlns:a="http://schemas.openxmlformats.org/drawingml/2006/main">
              <a:ext uri="{FF2B5EF4-FFF2-40B4-BE49-F238E27FC236}">
                <a16:creationId xmlns:a16="http://schemas.microsoft.com/office/drawing/2014/main" id="{FC5D7F7F-74EC-4798-8101-23C682DD5CD3}"/>
              </a:ext>
            </a:extLst>
          </p:cNvPr>
          <p:cNvSpPr>
            <a:spLocks xmlns:a="http://schemas.openxmlformats.org/drawingml/2006/main" noGrp="1"/>
          </p:cNvSpPr>
          <p:nvPr/>
        </p:nvSpPr>
        <p:spPr>
          <a:xfrm xmlns:a="http://schemas.openxmlformats.org/drawingml/2006/main">
            <a:off x="685800" y="8763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D99032"/>
                </a:solidFill>
              </a:defRPr>
            </a:pPr>
            <a:r>
              <a:rPr sz="1500" b="1">
                <a:solidFill>
                  <a:srgbClr val="D99032"/>
                </a:solidFill>
              </a:rPr>
              <a:t>MODULE 4 · WEEKS 7–8</a:t>
            </a:r>
          </a:p>
        </p:txBody>
      </p:sp>
      <p:sp>
        <p:nvSpPr>
          <p:cNvPr id="4" name="module-title">
            <a:extLst xmlns:a="http://schemas.openxmlformats.org/drawingml/2006/main">
              <a:ext uri="{FF2B5EF4-FFF2-40B4-BE49-F238E27FC236}">
                <a16:creationId xmlns:a16="http://schemas.microsoft.com/office/drawing/2014/main" id="{3797A257-CDA2-42B6-BE25-BDAF61D8383A}"/>
              </a:ext>
            </a:extLst>
          </p:cNvPr>
          <p:cNvSpPr>
            <a:spLocks xmlns:a="http://schemas.openxmlformats.org/drawingml/2006/main" noGrp="1"/>
          </p:cNvSpPr>
          <p:nvPr/>
        </p:nvSpPr>
        <p:spPr>
          <a:xfrm xmlns:a="http://schemas.openxmlformats.org/drawingml/2006/main">
            <a:off x="685800" y="1543050"/>
            <a:ext cx="4953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defRPr>
            </a:pPr>
            <a:r>
              <a:rPr sz="3900" b="1">
                <a:solidFill>
                  <a:srgbClr val="FFFFFF"/>
                </a:solidFill>
              </a:rPr>
              <a:t>Join, machine and finish with purpose</a:t>
            </a:r>
          </a:p>
        </p:txBody>
      </p:sp>
      <p:sp>
        <p:nvSpPr>
          <p:cNvPr id="5" name="module-summary">
            <a:extLst xmlns:a="http://schemas.openxmlformats.org/drawingml/2006/main">
              <a:ext uri="{FF2B5EF4-FFF2-40B4-BE49-F238E27FC236}">
                <a16:creationId xmlns:a16="http://schemas.microsoft.com/office/drawing/2014/main" id="{B6F577D0-5512-410D-8D24-B7F338540520}"/>
              </a:ext>
            </a:extLst>
          </p:cNvPr>
          <p:cNvSpPr>
            <a:spLocks xmlns:a="http://schemas.openxmlformats.org/drawingml/2006/main" noGrp="1"/>
          </p:cNvSpPr>
          <p:nvPr/>
        </p:nvSpPr>
        <p:spPr>
          <a:xfrm xmlns:a="http://schemas.openxmlformats.org/drawingml/2006/main">
            <a:off x="685800" y="4000500"/>
            <a:ext cx="476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DCE8E9"/>
                </a:solidFill>
              </a:defRPr>
            </a:pPr>
            <a:r>
              <a:rPr sz="1725">
                <a:solidFill>
                  <a:srgbClr val="DCE8E9"/>
                </a:solidFill>
              </a:rPr>
              <a:t>Select and complete teacher-approved processes according to function, access, heat effects, appearance, corrosion and quality.</a:t>
            </a:r>
          </a:p>
        </p:txBody>
      </p:sp>
      <p:sp>
        <p:nvSpPr>
          <p:cNvPr id="6" name="sequence">
            <a:extLst xmlns:a="http://schemas.openxmlformats.org/drawingml/2006/main">
              <a:ext uri="{FF2B5EF4-FFF2-40B4-BE49-F238E27FC236}">
                <a16:creationId xmlns:a16="http://schemas.microsoft.com/office/drawing/2014/main" id="{3999ED24-C1AD-4B10-B185-C0D4FC6FE1BC}"/>
              </a:ext>
            </a:extLst>
          </p:cNvPr>
          <p:cNvSpPr>
            <a:spLocks xmlns:a="http://schemas.openxmlformats.org/drawingml/2006/main" noGrp="1"/>
          </p:cNvSpPr>
          <p:nvPr/>
        </p:nvSpPr>
        <p:spPr>
          <a:xfrm xmlns:a="http://schemas.openxmlformats.org/drawingml/2006/main">
            <a:off x="685800" y="56388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Presentation → theory → guided checks → written evidence</a:t>
            </a:r>
          </a:p>
        </p:txBody>
      </p:sp>
    </p:spTree>
    <p:extLst>
      <p:ext uri="{BB962C8B-B14F-4D97-AF65-F5344CB8AC3E}">
        <p14:creationId xmlns:p14="http://schemas.microsoft.com/office/powerpoint/2010/main" val="1523977786"/>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106F0F0F-7E49-469B-A4A9-14E567F9EB62}"/>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4</a:t>
            </a:r>
          </a:p>
        </p:txBody>
      </p:sp>
      <p:sp>
        <p:nvSpPr>
          <p:cNvPr id="2" name="slide-label">
            <a:extLst xmlns:a="http://schemas.openxmlformats.org/drawingml/2006/main">
              <a:ext uri="{FF2B5EF4-FFF2-40B4-BE49-F238E27FC236}">
                <a16:creationId xmlns:a16="http://schemas.microsoft.com/office/drawing/2014/main" id="{9CE2D9AA-56B7-44CF-9DCE-4B9751991A33}"/>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1</a:t>
            </a:r>
          </a:p>
        </p:txBody>
      </p:sp>
      <p:sp>
        <p:nvSpPr>
          <p:cNvPr id="3" name="theory-title">
            <a:extLst xmlns:a="http://schemas.openxmlformats.org/drawingml/2006/main">
              <a:ext uri="{FF2B5EF4-FFF2-40B4-BE49-F238E27FC236}">
                <a16:creationId xmlns:a16="http://schemas.microsoft.com/office/drawing/2014/main" id="{D9534718-F1B3-4B86-B8CD-7D1EA77DC061}"/>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A joint is a design decision</a:t>
            </a:r>
          </a:p>
        </p:txBody>
      </p:sp>
      <p:sp>
        <p:nvSpPr>
          <p:cNvPr id="4" name="understand-label">
            <a:extLst xmlns:a="http://schemas.openxmlformats.org/drawingml/2006/main">
              <a:ext uri="{FF2B5EF4-FFF2-40B4-BE49-F238E27FC236}">
                <a16:creationId xmlns:a16="http://schemas.microsoft.com/office/drawing/2014/main" id="{B8D2D243-D49E-465B-8E77-5DF37F60070D}"/>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18F0B6E8-022B-41BF-961F-C94B1CF4A980}"/>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A joining method should suit the job, not simply be familiar. Consider load, whether the connection must be permanent or removable, access to the joint, how heat could affect the metal or coating, and whether the finished joint must be neat or concealed. The plans, demonstrations and teacher permission determine which method is approved for each stage.</a:t>
            </a:r>
          </a:p>
        </p:txBody>
      </p:sp>
      <p:sp>
        <p:nvSpPr>
          <p:cNvPr id="6" name="apply-label">
            <a:extLst xmlns:a="http://schemas.openxmlformats.org/drawingml/2006/main">
              <a:ext uri="{FF2B5EF4-FFF2-40B4-BE49-F238E27FC236}">
                <a16:creationId xmlns:a16="http://schemas.microsoft.com/office/drawing/2014/main" id="{283A6B6E-5228-4FA2-BFA6-6542487DA692}"/>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56270C34-2664-429F-AFB8-E905126BC8BE}"/>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Appearance and corrosion also influence the decision. Before permanent joining, complete a trial fit using the demonstrated process. Check that parts meet correctly, edges align, holes or features match, and the assembly remains in position. Stop and seek direction if the fit or approved method is uncertain.</a:t>
            </a:r>
          </a:p>
        </p:txBody>
      </p:sp>
      <p:sp>
        <p:nvSpPr>
          <p:cNvPr id="8" name="key-point">
            <a:extLst xmlns:a="http://schemas.openxmlformats.org/drawingml/2006/main">
              <a:ext uri="{FF2B5EF4-FFF2-40B4-BE49-F238E27FC236}">
                <a16:creationId xmlns:a16="http://schemas.microsoft.com/office/drawing/2014/main" id="{65FD6ED6-E9A8-4222-92C7-732373C31A07}"/>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84BDF5C3-FFF7-4E68-AD9F-624E70548D18}"/>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Select the joint, trial the fit, then make it permanent.</a:t>
            </a:r>
          </a:p>
        </p:txBody>
      </p:sp>
      <p:sp>
        <p:nvSpPr>
          <p:cNvPr id="10" name="source-boundary">
            <a:extLst xmlns:a="http://schemas.openxmlformats.org/drawingml/2006/main">
              <a:ext uri="{FF2B5EF4-FFF2-40B4-BE49-F238E27FC236}">
                <a16:creationId xmlns:a16="http://schemas.microsoft.com/office/drawing/2014/main" id="{D1E15812-F0E2-4033-92F2-ED50AE281BF0}"/>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1290768599"/>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6E84425F-D099-48E5-A02C-CFD772E16A7D}"/>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4</a:t>
            </a:r>
          </a:p>
        </p:txBody>
      </p:sp>
      <p:sp>
        <p:nvSpPr>
          <p:cNvPr id="2" name="slide-label">
            <a:extLst xmlns:a="http://schemas.openxmlformats.org/drawingml/2006/main">
              <a:ext uri="{FF2B5EF4-FFF2-40B4-BE49-F238E27FC236}">
                <a16:creationId xmlns:a16="http://schemas.microsoft.com/office/drawing/2014/main" id="{AD2773F7-FE23-4059-A412-1307A897A438}"/>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2</a:t>
            </a:r>
          </a:p>
        </p:txBody>
      </p:sp>
      <p:sp>
        <p:nvSpPr>
          <p:cNvPr id="3" name="theory-title">
            <a:extLst xmlns:a="http://schemas.openxmlformats.org/drawingml/2006/main">
              <a:ext uri="{FF2B5EF4-FFF2-40B4-BE49-F238E27FC236}">
                <a16:creationId xmlns:a16="http://schemas.microsoft.com/office/drawing/2014/main" id="{408D8AB2-B597-47B8-BB1E-E910AD2A7EB7}"/>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Machining is permission-based</a:t>
            </a:r>
          </a:p>
        </p:txBody>
      </p:sp>
      <p:sp>
        <p:nvSpPr>
          <p:cNvPr id="4" name="understand-label">
            <a:extLst xmlns:a="http://schemas.openxmlformats.org/drawingml/2006/main">
              <a:ext uri="{FF2B5EF4-FFF2-40B4-BE49-F238E27FC236}">
                <a16:creationId xmlns:a16="http://schemas.microsoft.com/office/drawing/2014/main" id="{C174629D-37DF-400C-88B8-2AD0C29935F3}"/>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E312AB6D-8E0A-4863-911D-F7A6FC984EA0}"/>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Drilling machines, lathes and other workshop machines require training, permission and the exact setup demonstrated by the teacher. The workpiece must be held using the approved device; hands are never a substitute for a vice, clamp, chuck or fixture.</a:t>
            </a:r>
          </a:p>
        </p:txBody>
      </p:sp>
      <p:sp>
        <p:nvSpPr>
          <p:cNvPr id="6" name="apply-label">
            <a:extLst xmlns:a="http://schemas.openxmlformats.org/drawingml/2006/main">
              <a:ext uri="{FF2B5EF4-FFF2-40B4-BE49-F238E27FC236}">
                <a16:creationId xmlns:a16="http://schemas.microsoft.com/office/drawing/2014/main" id="{70585D0E-FD0C-414F-99F2-4A3E6C127D00}"/>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F5E38A84-575C-4890-B9CD-C0ED7CC71BF0}"/>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Before starting, identify the stop control, remove setup tools such as chuck keys as directed, secure loose clothing and hair, and check the work zone. Stop immediately if sound, vibration, swarf behaviour or work position changes.</a:t>
            </a:r>
          </a:p>
        </p:txBody>
      </p:sp>
      <p:sp>
        <p:nvSpPr>
          <p:cNvPr id="8" name="key-point">
            <a:extLst xmlns:a="http://schemas.openxmlformats.org/drawingml/2006/main">
              <a:ext uri="{FF2B5EF4-FFF2-40B4-BE49-F238E27FC236}">
                <a16:creationId xmlns:a16="http://schemas.microsoft.com/office/drawing/2014/main" id="{E1027F6C-D0B6-4336-B140-463EE473194B}"/>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36F67C83-CBC3-42E8-B1F2-72842E5F66B9}"/>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Permission does not carry across to a different machine, setup or task.</a:t>
            </a:r>
          </a:p>
        </p:txBody>
      </p:sp>
      <p:sp>
        <p:nvSpPr>
          <p:cNvPr id="10" name="source-boundary">
            <a:extLst xmlns:a="http://schemas.openxmlformats.org/drawingml/2006/main">
              <a:ext uri="{FF2B5EF4-FFF2-40B4-BE49-F238E27FC236}">
                <a16:creationId xmlns:a16="http://schemas.microsoft.com/office/drawing/2014/main" id="{23CBBF1D-678E-488E-8B6D-F7B4EFA8DFD0}"/>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695470206"/>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67CFB40C-0918-46B6-8292-5EDB23FDC74B}"/>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4</a:t>
            </a:r>
          </a:p>
        </p:txBody>
      </p:sp>
      <p:sp>
        <p:nvSpPr>
          <p:cNvPr id="2" name="slide-label">
            <a:extLst xmlns:a="http://schemas.openxmlformats.org/drawingml/2006/main">
              <a:ext uri="{FF2B5EF4-FFF2-40B4-BE49-F238E27FC236}">
                <a16:creationId xmlns:a16="http://schemas.microsoft.com/office/drawing/2014/main" id="{3147DD14-153F-475E-8E98-9EE473BEFA08}"/>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3</a:t>
            </a:r>
          </a:p>
        </p:txBody>
      </p:sp>
      <p:sp>
        <p:nvSpPr>
          <p:cNvPr id="3" name="theory-title">
            <a:extLst xmlns:a="http://schemas.openxmlformats.org/drawingml/2006/main">
              <a:ext uri="{FF2B5EF4-FFF2-40B4-BE49-F238E27FC236}">
                <a16:creationId xmlns:a16="http://schemas.microsoft.com/office/drawing/2014/main" id="{145F087E-6FC7-4FFF-8A85-4E73AB66F6A0}"/>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Surface preparation and protection</a:t>
            </a:r>
          </a:p>
        </p:txBody>
      </p:sp>
      <p:sp>
        <p:nvSpPr>
          <p:cNvPr id="4" name="understand-label">
            <a:extLst xmlns:a="http://schemas.openxmlformats.org/drawingml/2006/main">
              <a:ext uri="{FF2B5EF4-FFF2-40B4-BE49-F238E27FC236}">
                <a16:creationId xmlns:a16="http://schemas.microsoft.com/office/drawing/2014/main" id="{EE7CDFFE-92B8-4B6C-8399-834AF16893B3}"/>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73B0CE9F-582D-4DCD-9D05-0837789CB8AE}"/>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A good finish begins with preparation. Treat burrs, scratches, scale, grease and dust using the approved classroom sequence. Protect prepared surfaces from contamination before the teacher-specified coating or finishing process.</a:t>
            </a:r>
          </a:p>
        </p:txBody>
      </p:sp>
      <p:sp>
        <p:nvSpPr>
          <p:cNvPr id="6" name="apply-label">
            <a:extLst xmlns:a="http://schemas.openxmlformats.org/drawingml/2006/main">
              <a:ext uri="{FF2B5EF4-FFF2-40B4-BE49-F238E27FC236}">
                <a16:creationId xmlns:a16="http://schemas.microsoft.com/office/drawing/2014/main" id="{12B8C04B-62B0-4B76-8AEF-E147EEEC554F}"/>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5EF65984-71C2-4FA2-84A2-42B78BB17E93}"/>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Follow product labels, safety information and teacher direction for ventilation, PPE, application and curing. Record the actual product and process used; do not infer them from another project.</a:t>
            </a:r>
          </a:p>
        </p:txBody>
      </p:sp>
      <p:sp>
        <p:nvSpPr>
          <p:cNvPr id="8" name="key-point">
            <a:extLst xmlns:a="http://schemas.openxmlformats.org/drawingml/2006/main">
              <a:ext uri="{FF2B5EF4-FFF2-40B4-BE49-F238E27FC236}">
                <a16:creationId xmlns:a16="http://schemas.microsoft.com/office/drawing/2014/main" id="{B3EC6661-B7DA-41D0-8B1B-0C98567AADF6}"/>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1645FFCC-7625-4C0C-A18F-07764EA9ACA4}"/>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Finish quality and corrosion resistance depend on preparation.</a:t>
            </a:r>
          </a:p>
        </p:txBody>
      </p:sp>
      <p:sp>
        <p:nvSpPr>
          <p:cNvPr id="10" name="source-boundary">
            <a:extLst xmlns:a="http://schemas.openxmlformats.org/drawingml/2006/main">
              <a:ext uri="{FF2B5EF4-FFF2-40B4-BE49-F238E27FC236}">
                <a16:creationId xmlns:a16="http://schemas.microsoft.com/office/drawing/2014/main" id="{EDF46494-2CAC-4741-965A-4DB3F8990B1F}"/>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13167562"/>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course-label">
            <a:extLst xmlns:a="http://schemas.openxmlformats.org/drawingml/2006/main">
              <a:ext uri="{FF2B5EF4-FFF2-40B4-BE49-F238E27FC236}">
                <a16:creationId xmlns:a16="http://schemas.microsoft.com/office/drawing/2014/main" id="{6E6899F5-915F-4260-8BF2-9902C2446F5C}"/>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4</a:t>
            </a:r>
          </a:p>
        </p:txBody>
      </p:sp>
      <p:sp>
        <p:nvSpPr>
          <p:cNvPr id="2" name="slide-label">
            <a:extLst xmlns:a="http://schemas.openxmlformats.org/drawingml/2006/main">
              <a:ext uri="{FF2B5EF4-FFF2-40B4-BE49-F238E27FC236}">
                <a16:creationId xmlns:a16="http://schemas.microsoft.com/office/drawing/2014/main" id="{B7C4B364-310A-47BE-87A2-CD2DE896F141}"/>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SAVE EVIDENCE</a:t>
            </a:r>
          </a:p>
        </p:txBody>
      </p:sp>
      <p:sp>
        <p:nvSpPr>
          <p:cNvPr id="3" name="evidence-title">
            <a:extLst xmlns:a="http://schemas.openxmlformats.org/drawingml/2006/main">
              <a:ext uri="{FF2B5EF4-FFF2-40B4-BE49-F238E27FC236}">
                <a16:creationId xmlns:a16="http://schemas.microsoft.com/office/drawing/2014/main" id="{B90E9DCD-45FA-4076-8FA8-7E831EACA6EB}"/>
              </a:ext>
            </a:extLst>
          </p:cNvPr>
          <p:cNvSpPr>
            <a:spLocks xmlns:a="http://schemas.openxmlformats.org/drawingml/2006/main" noGrp="1"/>
          </p:cNvSpPr>
          <p:nvPr/>
        </p:nvSpPr>
        <p:spPr>
          <a:xfrm xmlns:a="http://schemas.openxmlformats.org/drawingml/2006/main">
            <a:off x="685800" y="1000125"/>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300" b="1">
                <a:solidFill>
                  <a:srgbClr val="10252B"/>
                </a:solidFill>
              </a:defRPr>
            </a:pPr>
            <a:r>
              <a:rPr sz="3300" b="1">
                <a:solidFill>
                  <a:srgbClr val="10252B"/>
                </a:solidFill>
              </a:rPr>
              <a:t>Explain your thinking</a:t>
            </a:r>
          </a:p>
        </p:txBody>
      </p:sp>
      <p:sp>
        <p:nvSpPr>
          <p:cNvPr id="4" name="evidence-prompt">
            <a:extLst xmlns:a="http://schemas.openxmlformats.org/drawingml/2006/main">
              <a:ext uri="{FF2B5EF4-FFF2-40B4-BE49-F238E27FC236}">
                <a16:creationId xmlns:a16="http://schemas.microsoft.com/office/drawing/2014/main" id="{AAFCA5B1-2E5F-4C76-A87D-06144B6AC79E}"/>
              </a:ext>
            </a:extLst>
          </p:cNvPr>
          <p:cNvSpPr>
            <a:spLocks xmlns:a="http://schemas.openxmlformats.org/drawingml/2006/main" noGrp="1"/>
          </p:cNvSpPr>
          <p:nvPr/>
        </p:nvSpPr>
        <p:spPr>
          <a:xfrm xmlns:a="http://schemas.openxmlformats.org/drawingml/2006/main">
            <a:off x="685800" y="1962150"/>
            <a:ext cx="5000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10252B"/>
                </a:solidFill>
              </a:defRPr>
            </a:pPr>
            <a:r>
              <a:rPr sz="1800">
                <a:solidFill>
                  <a:srgbClr val="10252B"/>
                </a:solidFill>
              </a:rPr>
              <a:t>Explain how load, permanence, access, heat effect, appearance and corrosion could influence a joining method. Include why a trial fit is needed.</a:t>
            </a:r>
          </a:p>
        </p:txBody>
      </p:sp>
      <p:sp>
        <p:nvSpPr>
          <p:cNvPr id="5" name="evidence-reminder">
            <a:extLst xmlns:a="http://schemas.openxmlformats.org/drawingml/2006/main">
              <a:ext uri="{FF2B5EF4-FFF2-40B4-BE49-F238E27FC236}">
                <a16:creationId xmlns:a16="http://schemas.microsoft.com/office/drawing/2014/main" id="{88D223E9-2087-492B-AA59-3EA6A9857C22}"/>
              </a:ext>
            </a:extLst>
          </p:cNvPr>
          <p:cNvSpPr>
            <a:spLocks xmlns:a="http://schemas.openxmlformats.org/drawingml/2006/main" noGrp="1"/>
          </p:cNvSpPr>
          <p:nvPr/>
        </p:nvSpPr>
        <p:spPr>
          <a:xfrm xmlns:a="http://schemas.openxmlformats.org/drawingml/2006/main">
            <a:off x="685800" y="4267200"/>
            <a:ext cx="5000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74F5D"/>
                </a:solidFill>
              </a:defRPr>
            </a:pPr>
            <a:r>
              <a:rPr sz="1500" b="1">
                <a:solidFill>
                  <a:srgbClr val="174F5D"/>
                </a:solidFill>
              </a:rPr>
              <a:t>Use your own project evidence. Save or print your response as directed by your teacher.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02f219f31574c39"/>
          <a:srcRect xmlns:a="http://schemas.openxmlformats.org/drawingml/2006/main" l="13761" t="0" r="13761" b="0"/>
          <a:stretch xmlns:a="http://schemas.openxmlformats.org/drawingml/2006/main">
            <a:fillRect l="0" t="0" r="0" b="0"/>
          </a:stretch>
        </p:blipFill>
        <p:spPr>
          <a:xfrm xmlns:a="http://schemas.openxmlformats.org/drawingml/2006/main">
            <a:off x="6477000" y="1276350"/>
            <a:ext cx="5029200" cy="3905250"/>
          </a:xfrm>
          <a:prstGeom xmlns:a="http://schemas.openxmlformats.org/drawingml/2006/main" prst="roundRect">
            <a:avLst>
              <a:gd name="adj" fmla="val 2927"/>
            </a:avLst>
          </a:prstGeom>
        </p:spPr>
      </p:pic>
      <p:sp>
        <p:nvSpPr>
          <p:cNvPr id="7" name="completion">
            <a:extLst xmlns:a="http://schemas.openxmlformats.org/drawingml/2006/main">
              <a:ext uri="{FF2B5EF4-FFF2-40B4-BE49-F238E27FC236}">
                <a16:creationId xmlns:a16="http://schemas.microsoft.com/office/drawing/2014/main" id="{9B2C59A3-57D0-4EE9-871D-CDD044F99AF2}"/>
              </a:ext>
            </a:extLst>
          </p:cNvPr>
          <p:cNvSpPr>
            <a:spLocks xmlns:a="http://schemas.openxmlformats.org/drawingml/2006/main" noGrp="1"/>
          </p:cNvSpPr>
          <p:nvPr/>
        </p:nvSpPr>
        <p:spPr>
          <a:xfrm xmlns:a="http://schemas.openxmlformats.org/drawingml/2006/main">
            <a:off x="6477000" y="5467350"/>
            <a:ext cx="502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Complete the checks and written response on the course website.</a:t>
            </a:r>
          </a:p>
        </p:txBody>
      </p:sp>
      <p:sp>
        <p:nvSpPr>
          <p:cNvPr id="8" name="source-boundary">
            <a:extLst xmlns:a="http://schemas.openxmlformats.org/drawingml/2006/main">
              <a:ext uri="{FF2B5EF4-FFF2-40B4-BE49-F238E27FC236}">
                <a16:creationId xmlns:a16="http://schemas.microsoft.com/office/drawing/2014/main" id="{F9F779F1-9E4B-423C-A284-0F5EC43B0E17}"/>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19128762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2026-08-15T12:46:24.1430000Z</dcterms:created>
  <dcterms:modified xsi:type="dcterms:W3CDTF">2026-08-15T12:46:24.1430000Z</dcterms:modified>
</coreProperties>
</file>