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b8a41066e84884" /><Relationship Type="http://schemas.openxmlformats.org/officeDocument/2006/relationships/extended-properties" Target="/docProps/app.xml" Id="R8a3b1df4ef0e4f2d" /><Relationship Type="http://schemas.openxmlformats.org/officeDocument/2006/relationships/officeDocument" Target="/ppt/presentation.xml" Id="Re034dd8259894f62" /></Relationships>
</file>

<file path=ppt/presentation.xml><?xml version="1.0" encoding="utf-8"?>
<p:presentation xmlns:p="http://schemas.openxmlformats.org/presentationml/2006/main">
  <p:sldMasterIdLst>
    <p:sldMasterId xmlns:r="http://schemas.openxmlformats.org/officeDocument/2006/relationships" id="2147483648" r:id="Rbcd3cb9e792248fe"/>
  </p:sldMasterIdLst>
  <p:notesMasterIdLst>
    <p:notesMasterId xmlns:r="http://schemas.openxmlformats.org/officeDocument/2006/relationships" r:id="Rd7951bff1a4f419c"/>
  </p:notesMasterIdLst>
  <p:sldIdLst>
    <p:sldId xmlns:r="http://schemas.openxmlformats.org/officeDocument/2006/relationships" id="256" r:id="R13f78479e58d4199"/>
    <p:sldId xmlns:r="http://schemas.openxmlformats.org/officeDocument/2006/relationships" id="257" r:id="R198f453bab7c452a"/>
    <p:sldId xmlns:r="http://schemas.openxmlformats.org/officeDocument/2006/relationships" id="258" r:id="Rae2050ac69a84a6f"/>
    <p:sldId xmlns:r="http://schemas.openxmlformats.org/officeDocument/2006/relationships" id="259" r:id="R8c5d1a5219ac494a"/>
    <p:sldId xmlns:r="http://schemas.openxmlformats.org/officeDocument/2006/relationships" id="260" r:id="Rf7b08e9bc6204161"/>
    <p:sldId xmlns:r="http://schemas.openxmlformats.org/officeDocument/2006/relationships" id="261" r:id="R8c71a8e78efe40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60171bc8ff41d3" /><Relationship Type="http://schemas.openxmlformats.org/officeDocument/2006/relationships/slideMaster" Target="/ppt/slideMasters/slideMaster1.xml" Id="Rbcd3cb9e792248fe" /><Relationship Type="http://schemas.openxmlformats.org/officeDocument/2006/relationships/notesMaster" Target="/ppt/notesMasters/notesMaster1.xml" Id="Rd7951bff1a4f419c" /><Relationship Type="http://schemas.openxmlformats.org/officeDocument/2006/relationships/presProps" Target="/ppt/presProps.xml" Id="R8ec76efcdf4048e2" /><Relationship Type="http://schemas.openxmlformats.org/officeDocument/2006/relationships/tableStyles" Target="/ppt/tableStyles.xml" Id="R9edf9d28af2b474a" /><Relationship Type="http://schemas.openxmlformats.org/officeDocument/2006/relationships/slide" Target="/ppt/slides/slide1.xml" Id="R13f78479e58d4199" /><Relationship Type="http://schemas.openxmlformats.org/officeDocument/2006/relationships/slide" Target="/ppt/slides/slide2.xml" Id="R198f453bab7c452a" /><Relationship Type="http://schemas.openxmlformats.org/officeDocument/2006/relationships/slide" Target="/ppt/slides/slide3.xml" Id="Rae2050ac69a84a6f" /><Relationship Type="http://schemas.openxmlformats.org/officeDocument/2006/relationships/slide" Target="/ppt/slides/slide4.xml" Id="R8c5d1a5219ac494a" /><Relationship Type="http://schemas.openxmlformats.org/officeDocument/2006/relationships/slide" Target="/ppt/slides/slide5.xml" Id="Rf7b08e9bc6204161" /><Relationship Type="http://schemas.openxmlformats.org/officeDocument/2006/relationships/slide" Target="/ppt/slides/slide6.xml" Id="R8c71a8e78efe40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03f5e2670441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f349b9911a4a71" /><Relationship Type="http://schemas.openxmlformats.org/officeDocument/2006/relationships/notesMaster" Target="/ppt/notesMasters/notesMaster1.xml" Id="R391ceb09cd6b48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9ed8385fc84d27" /><Relationship Type="http://schemas.openxmlformats.org/officeDocument/2006/relationships/notesMaster" Target="/ppt/notesMasters/notesMaster1.xml" Id="Rbe7342d324894b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ddb7620e0545ec" /><Relationship Type="http://schemas.openxmlformats.org/officeDocument/2006/relationships/notesMaster" Target="/ppt/notesMasters/notesMaster1.xml" Id="R7b8b7a5722d849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5eabe380a14c93" /><Relationship Type="http://schemas.openxmlformats.org/officeDocument/2006/relationships/notesMaster" Target="/ppt/notesMasters/notesMaster1.xml" Id="Raf240f9f95564e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39991400174141" /><Relationship Type="http://schemas.openxmlformats.org/officeDocument/2006/relationships/notesMaster" Target="/ppt/notesMasters/notesMaster1.xml" Id="Rb2aa6f8db33b49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040a8f6f9c4c40" /><Relationship Type="http://schemas.openxmlformats.org/officeDocument/2006/relationships/notesMaster" Target="/ppt/notesMasters/notesMaster1.xml" Id="Rd18ef6f8de864e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cc2bbe0b154b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f651470eca4ff9" /><Relationship Type="http://schemas.openxmlformats.org/officeDocument/2006/relationships/slideLayout" Target="/ppt/slideLayouts/slideLayout1.xml" Id="R5caee73eb4f546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aee73eb4f546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61e041be704ca2" /><Relationship Type="http://schemas.openxmlformats.org/officeDocument/2006/relationships/image" Target="/ppt/media/image.bin" Id="R938417fd1c4344aa" /><Relationship Type="http://schemas.openxmlformats.org/officeDocument/2006/relationships/notesSlide" Target="/ppt/notesSlides/notesSlide1.xml" Id="Rb05725daac0047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22ae14efa245cb" /><Relationship Type="http://schemas.openxmlformats.org/officeDocument/2006/relationships/notesSlide" Target="/ppt/notesSlides/notesSlide2.xml" Id="R6a491e1a009847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19202de66048ee" /><Relationship Type="http://schemas.openxmlformats.org/officeDocument/2006/relationships/notesSlide" Target="/ppt/notesSlides/notesSlide3.xml" Id="Rdcf7377ce7f749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10ca4970d54be9" /><Relationship Type="http://schemas.openxmlformats.org/officeDocument/2006/relationships/notesSlide" Target="/ppt/notesSlides/notesSlide4.xml" Id="R77d86360ff9342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cc640260ce4ab6" /><Relationship Type="http://schemas.openxmlformats.org/officeDocument/2006/relationships/notesSlide" Target="/ppt/notesSlides/notesSlide5.xml" Id="Rf91a942e58a840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0048aced674686" /><Relationship Type="http://schemas.openxmlformats.org/officeDocument/2006/relationships/image" Target="/ppt/media/image.png" Id="R00b7c8a846484d43" /><Relationship Type="http://schemas.openxmlformats.org/officeDocument/2006/relationships/notesSlide" Target="/ppt/notesSlides/notesSlide6.xml" Id="R4c89047a5b4a4dae" /></Relationships>
</file>

<file path=ppt/slides/slide1.xml><?xml version="1.0" encoding="utf-8"?>
<p:sld xmlns:p="http://schemas.openxmlformats.org/presentationml/2006/main">
  <p:cSld>
    <p:bg>
      <p:bgPr>
        <a:solidFill xmlns:a="http://schemas.openxmlformats.org/drawingml/2006/main">
          <a:srgbClr val="0B303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38417fd1c4344aa"/>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image-overlay">
            <a:extLst xmlns:a="http://schemas.openxmlformats.org/drawingml/2006/main">
              <a:ext uri="{FF2B5EF4-FFF2-40B4-BE49-F238E27FC236}">
                <a16:creationId xmlns:a16="http://schemas.microsoft.com/office/drawing/2014/main" id="{36C1B308-1FA6-4759-928A-068AE8D8844E}"/>
              </a:ext>
            </a:extLst>
          </p:cNvPr>
          <p:cNvSpPr>
            <a:spLocks xmlns:a="http://schemas.openxmlformats.org/drawingml/2006/main" noGrp="1"/>
          </p:cNvSpPr>
          <p:nvPr/>
        </p:nvSpPr>
        <p:spPr>
          <a:xfrm xmlns:a="http://schemas.openxmlformats.org/drawingml/2006/main">
            <a:off x="5810250" y="0"/>
            <a:ext cx="1714500" cy="6858000"/>
          </a:xfrm>
          <a:prstGeom xmlns:a="http://schemas.openxmlformats.org/drawingml/2006/main" prst="rect">
            <a:avLst/>
          </a:prstGeom>
          <a:ln xmlns:a="http://schemas.openxmlformats.org/drawingml/2006/main" w="0">
            <a:noFill/>
            <a:prstDash val="solid"/>
          </a:ln>
        </p:spPr>
      </p:sp>
      <p:sp>
        <p:nvSpPr>
          <p:cNvPr id="3" name="module-kicker">
            <a:extLst xmlns:a="http://schemas.openxmlformats.org/drawingml/2006/main">
              <a:ext uri="{FF2B5EF4-FFF2-40B4-BE49-F238E27FC236}">
                <a16:creationId xmlns:a16="http://schemas.microsoft.com/office/drawing/2014/main" id="{326A9059-4583-4492-934F-30D3FCFAD189}"/>
              </a:ext>
            </a:extLst>
          </p:cNvPr>
          <p:cNvSpPr>
            <a:spLocks xmlns:a="http://schemas.openxmlformats.org/drawingml/2006/main" noGrp="1"/>
          </p:cNvSpPr>
          <p:nvPr/>
        </p:nvSpPr>
        <p:spPr>
          <a:xfrm xmlns:a="http://schemas.openxmlformats.org/drawingml/2006/main">
            <a:off x="685800" y="8763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D99032"/>
                </a:solidFill>
              </a:defRPr>
            </a:pPr>
            <a:r>
              <a:rPr sz="1500" b="1">
                <a:solidFill>
                  <a:srgbClr val="D99032"/>
                </a:solidFill>
              </a:rPr>
              <a:t>MODULE 2 · WEEKS 3–4</a:t>
            </a:r>
          </a:p>
        </p:txBody>
      </p:sp>
      <p:sp>
        <p:nvSpPr>
          <p:cNvPr id="4" name="module-title">
            <a:extLst xmlns:a="http://schemas.openxmlformats.org/drawingml/2006/main">
              <a:ext uri="{FF2B5EF4-FFF2-40B4-BE49-F238E27FC236}">
                <a16:creationId xmlns:a16="http://schemas.microsoft.com/office/drawing/2014/main" id="{74DC3C6E-D55B-44C2-AEB2-EBF8CBC4D8C4}"/>
              </a:ext>
            </a:extLst>
          </p:cNvPr>
          <p:cNvSpPr>
            <a:spLocks xmlns:a="http://schemas.openxmlformats.org/drawingml/2006/main" noGrp="1"/>
          </p:cNvSpPr>
          <p:nvPr/>
        </p:nvSpPr>
        <p:spPr>
          <a:xfrm xmlns:a="http://schemas.openxmlformats.org/drawingml/2006/main">
            <a:off x="685800" y="1543050"/>
            <a:ext cx="4953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Fishing Rod Holder brief, materials and planning</a:t>
            </a:r>
          </a:p>
        </p:txBody>
      </p:sp>
      <p:sp>
        <p:nvSpPr>
          <p:cNvPr id="5" name="module-summary">
            <a:extLst xmlns:a="http://schemas.openxmlformats.org/drawingml/2006/main">
              <a:ext uri="{FF2B5EF4-FFF2-40B4-BE49-F238E27FC236}">
                <a16:creationId xmlns:a16="http://schemas.microsoft.com/office/drawing/2014/main" id="{348807D6-5181-44F2-B0F4-F7FEBBCFE236}"/>
              </a:ext>
            </a:extLst>
          </p:cNvPr>
          <p:cNvSpPr>
            <a:spLocks xmlns:a="http://schemas.openxmlformats.org/drawingml/2006/main" noGrp="1"/>
          </p:cNvSpPr>
          <p:nvPr/>
        </p:nvSpPr>
        <p:spPr>
          <a:xfrm xmlns:a="http://schemas.openxmlformats.org/drawingml/2006/main">
            <a:off x="685800" y="400050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DCE8E9"/>
                </a:solidFill>
              </a:defRPr>
            </a:pPr>
            <a:r>
              <a:rPr sz="1725">
                <a:solidFill>
                  <a:srgbClr val="DCE8E9"/>
                </a:solidFill>
              </a:rPr>
              <a:t>Connect material properties to performance, then turn the Fishing Rod Holder brief and components drawing into a controlled production plan.</a:t>
            </a:r>
          </a:p>
        </p:txBody>
      </p:sp>
      <p:sp>
        <p:nvSpPr>
          <p:cNvPr id="6" name="sequence">
            <a:extLst xmlns:a="http://schemas.openxmlformats.org/drawingml/2006/main">
              <a:ext uri="{FF2B5EF4-FFF2-40B4-BE49-F238E27FC236}">
                <a16:creationId xmlns:a16="http://schemas.microsoft.com/office/drawing/2014/main" id="{C62E3AA5-E0F8-48BD-AE0E-9B83A3605FC8}"/>
              </a:ext>
            </a:extLst>
          </p:cNvPr>
          <p:cNvSpPr>
            <a:spLocks xmlns:a="http://schemas.openxmlformats.org/drawingml/2006/main" noGrp="1"/>
          </p:cNvSpPr>
          <p:nvPr/>
        </p:nvSpPr>
        <p:spPr>
          <a:xfrm xmlns:a="http://schemas.openxmlformats.org/drawingml/2006/main">
            <a:off x="685800" y="56388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Presentation → theory → guided checks → written evidence</a:t>
            </a:r>
          </a:p>
        </p:txBody>
      </p:sp>
    </p:spTree>
    <p:extLst>
      <p:ext uri="{BB962C8B-B14F-4D97-AF65-F5344CB8AC3E}">
        <p14:creationId xmlns:p14="http://schemas.microsoft.com/office/powerpoint/2010/main" val="1251593461"/>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DA34AE49-A733-4C64-8E99-6E346DF4ED59}"/>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2</a:t>
            </a:r>
          </a:p>
        </p:txBody>
      </p:sp>
      <p:sp>
        <p:nvSpPr>
          <p:cNvPr id="2" name="slide-label">
            <a:extLst xmlns:a="http://schemas.openxmlformats.org/drawingml/2006/main">
              <a:ext uri="{FF2B5EF4-FFF2-40B4-BE49-F238E27FC236}">
                <a16:creationId xmlns:a16="http://schemas.microsoft.com/office/drawing/2014/main" id="{9F27C6F4-468B-4AA5-89FE-C499A88AD76B}"/>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1</a:t>
            </a:r>
          </a:p>
        </p:txBody>
      </p:sp>
      <p:sp>
        <p:nvSpPr>
          <p:cNvPr id="3" name="theory-title">
            <a:extLst xmlns:a="http://schemas.openxmlformats.org/drawingml/2006/main">
              <a:ext uri="{FF2B5EF4-FFF2-40B4-BE49-F238E27FC236}">
                <a16:creationId xmlns:a16="http://schemas.microsoft.com/office/drawing/2014/main" id="{08FE6EB2-4106-40C5-8DDE-FBD8B141E832}"/>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Choose metal for the job</a:t>
            </a:r>
          </a:p>
        </p:txBody>
      </p:sp>
      <p:sp>
        <p:nvSpPr>
          <p:cNvPr id="4" name="understand-label">
            <a:extLst xmlns:a="http://schemas.openxmlformats.org/drawingml/2006/main">
              <a:ext uri="{FF2B5EF4-FFF2-40B4-BE49-F238E27FC236}">
                <a16:creationId xmlns:a16="http://schemas.microsoft.com/office/drawing/2014/main" id="{8CD632CE-1568-45A9-86CB-476DB7B6F85A}"/>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6A4AEE23-470F-46D1-B205-5BFCA91AA15C}"/>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Metals are often grouped as ferrous or non-ferrous. Ferrous metals contain iron and are commonly strong and magnetic, but many can rust if left unprotected. Non-ferrous metals may offer lower mass, corrosion resistance or easier forming, depending on the metal. A property is a characteristic such as hardness, strength, ductility or corrosion resistance; performance describes how well the material works in its intended situation.</a:t>
            </a:r>
          </a:p>
        </p:txBody>
      </p:sp>
      <p:sp>
        <p:nvSpPr>
          <p:cNvPr id="6" name="apply-label">
            <a:extLst xmlns:a="http://schemas.openxmlformats.org/drawingml/2006/main">
              <a:ext uri="{FF2B5EF4-FFF2-40B4-BE49-F238E27FC236}">
                <a16:creationId xmlns:a16="http://schemas.microsoft.com/office/drawing/2014/main" id="{132EE48B-EA4C-4C79-9534-0A7E1758A3C5}"/>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8F52A738-92CD-4224-9DA8-FB11895BA18D}"/>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Choose material by matching properties to function, fabrication processes, corrosion exposure, availability and finish. A metal may perform well but still be unsuitable if it cannot be safely processed using the approved workshop equipment. Use the teacher-issued plan to identify the project-specific metal, then justify why its properties support the Fishing Rod Holder.</a:t>
            </a:r>
          </a:p>
        </p:txBody>
      </p:sp>
      <p:sp>
        <p:nvSpPr>
          <p:cNvPr id="8" name="key-point">
            <a:extLst xmlns:a="http://schemas.openxmlformats.org/drawingml/2006/main">
              <a:ext uri="{FF2B5EF4-FFF2-40B4-BE49-F238E27FC236}">
                <a16:creationId xmlns:a16="http://schemas.microsoft.com/office/drawing/2014/main" id="{7ADD7AB6-A995-43FB-9912-D7D3F54FCA42}"/>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DE58D832-9630-4D0B-B732-8447E13E7D27}"/>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Link material properties to required performance and available processes.</a:t>
            </a:r>
          </a:p>
        </p:txBody>
      </p:sp>
      <p:sp>
        <p:nvSpPr>
          <p:cNvPr id="10" name="source-boundary">
            <a:extLst xmlns:a="http://schemas.openxmlformats.org/drawingml/2006/main">
              <a:ext uri="{FF2B5EF4-FFF2-40B4-BE49-F238E27FC236}">
                <a16:creationId xmlns:a16="http://schemas.microsoft.com/office/drawing/2014/main" id="{8588BABC-D4A3-441F-B272-0379289B3E7A}"/>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431411281"/>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222FF019-051F-492A-9399-FE743AE7DF93}"/>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2</a:t>
            </a:r>
          </a:p>
        </p:txBody>
      </p:sp>
      <p:sp>
        <p:nvSpPr>
          <p:cNvPr id="2" name="slide-label">
            <a:extLst xmlns:a="http://schemas.openxmlformats.org/drawingml/2006/main">
              <a:ext uri="{FF2B5EF4-FFF2-40B4-BE49-F238E27FC236}">
                <a16:creationId xmlns:a16="http://schemas.microsoft.com/office/drawing/2014/main" id="{CA3DD029-5A9A-4C9D-8B2A-65A134C3435E}"/>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2</a:t>
            </a:r>
          </a:p>
        </p:txBody>
      </p:sp>
      <p:sp>
        <p:nvSpPr>
          <p:cNvPr id="3" name="theory-title">
            <a:extLst xmlns:a="http://schemas.openxmlformats.org/drawingml/2006/main">
              <a:ext uri="{FF2B5EF4-FFF2-40B4-BE49-F238E27FC236}">
                <a16:creationId xmlns:a16="http://schemas.microsoft.com/office/drawing/2014/main" id="{E7533794-33F6-4D45-9301-77CAAC977334}"/>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The Fishing Rod Holder brief and production context</a:t>
            </a:r>
          </a:p>
        </p:txBody>
      </p:sp>
      <p:sp>
        <p:nvSpPr>
          <p:cNvPr id="4" name="understand-label">
            <a:extLst xmlns:a="http://schemas.openxmlformats.org/drawingml/2006/main">
              <a:ext uri="{FF2B5EF4-FFF2-40B4-BE49-F238E27FC236}">
                <a16:creationId xmlns:a16="http://schemas.microsoft.com/office/drawing/2014/main" id="{0BA35501-EB39-47D5-93D4-779EBB12888D}"/>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22A7DE31-55AE-4B8E-9683-D8320C25D706}"/>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The existing program identifies a Fishing Rod Holder, supported by the teacher-issued components drawing. The teacher-issued brief and plan define the exact requirements; this unit does not substitute its own geometry.</a:t>
            </a:r>
          </a:p>
        </p:txBody>
      </p:sp>
      <p:sp>
        <p:nvSpPr>
          <p:cNvPr id="6" name="apply-label">
            <a:extLst xmlns:a="http://schemas.openxmlformats.org/drawingml/2006/main">
              <a:ext uri="{FF2B5EF4-FFF2-40B4-BE49-F238E27FC236}">
                <a16:creationId xmlns:a16="http://schemas.microsoft.com/office/drawing/2014/main" id="{258A5FEF-5967-468D-A722-B406A5F83309}"/>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1B730D44-78DC-4BAA-BA8B-44B77B75178D}"/>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Separate requirements from preferences. Record the user, function, environment, approved materials and processes, then identify which evidence will demonstrate that the finished Fishing Rod Holder meets the brief.</a:t>
            </a:r>
          </a:p>
        </p:txBody>
      </p:sp>
      <p:sp>
        <p:nvSpPr>
          <p:cNvPr id="8" name="key-point">
            <a:extLst xmlns:a="http://schemas.openxmlformats.org/drawingml/2006/main">
              <a:ext uri="{FF2B5EF4-FFF2-40B4-BE49-F238E27FC236}">
                <a16:creationId xmlns:a16="http://schemas.microsoft.com/office/drawing/2014/main" id="{7B66413D-E541-423B-829E-6DD72DFFEEA7}"/>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F96F75E4-46B4-4C75-90F1-82E54C3D9F70}"/>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Keep the project brief, drawing and production evidence connected.</a:t>
            </a:r>
          </a:p>
        </p:txBody>
      </p:sp>
      <p:sp>
        <p:nvSpPr>
          <p:cNvPr id="10" name="source-boundary">
            <a:extLst xmlns:a="http://schemas.openxmlformats.org/drawingml/2006/main">
              <a:ext uri="{FF2B5EF4-FFF2-40B4-BE49-F238E27FC236}">
                <a16:creationId xmlns:a16="http://schemas.microsoft.com/office/drawing/2014/main" id="{9A4E28AC-0506-4B51-86AF-31431C7470A4}"/>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2106059868"/>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82EF1FB7-28FB-4C3F-B864-6388838A0ECA}"/>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2</a:t>
            </a:r>
          </a:p>
        </p:txBody>
      </p:sp>
      <p:sp>
        <p:nvSpPr>
          <p:cNvPr id="2" name="slide-label">
            <a:extLst xmlns:a="http://schemas.openxmlformats.org/drawingml/2006/main">
              <a:ext uri="{FF2B5EF4-FFF2-40B4-BE49-F238E27FC236}">
                <a16:creationId xmlns:a16="http://schemas.microsoft.com/office/drawing/2014/main" id="{E11F3FEA-34FC-4851-9CA8-48ED2B676154}"/>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3</a:t>
            </a:r>
          </a:p>
        </p:txBody>
      </p:sp>
      <p:sp>
        <p:nvSpPr>
          <p:cNvPr id="3" name="theory-title">
            <a:extLst xmlns:a="http://schemas.openxmlformats.org/drawingml/2006/main">
              <a:ext uri="{FF2B5EF4-FFF2-40B4-BE49-F238E27FC236}">
                <a16:creationId xmlns:a16="http://schemas.microsoft.com/office/drawing/2014/main" id="{FA3AF2CE-1F0B-4BF9-9D1A-9B5CB80F50C8}"/>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Design and project planning</a:t>
            </a:r>
          </a:p>
        </p:txBody>
      </p:sp>
      <p:sp>
        <p:nvSpPr>
          <p:cNvPr id="4" name="understand-label">
            <a:extLst xmlns:a="http://schemas.openxmlformats.org/drawingml/2006/main">
              <a:ext uri="{FF2B5EF4-FFF2-40B4-BE49-F238E27FC236}">
                <a16:creationId xmlns:a16="http://schemas.microsoft.com/office/drawing/2014/main" id="{D851B5BF-E185-44BC-A25F-99C78D8B7419}"/>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E2DE54EF-0D24-4679-9FF8-00A4DC97E6F0}"/>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Begin with the design brief, research relevant products, generate concept ideas and develop the approved direction. A working drawing communicates the information needed for production; a cutting list records the teacher-specified parts, material and dimensions.</a:t>
            </a:r>
          </a:p>
        </p:txBody>
      </p:sp>
      <p:sp>
        <p:nvSpPr>
          <p:cNvPr id="6" name="apply-label">
            <a:extLst xmlns:a="http://schemas.openxmlformats.org/drawingml/2006/main">
              <a:ext uri="{FF2B5EF4-FFF2-40B4-BE49-F238E27FC236}">
                <a16:creationId xmlns:a16="http://schemas.microsoft.com/office/drawing/2014/main" id="{D68DBAAB-80CD-466A-B3D3-770DD04065FA}"/>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67527B41-818E-48AA-9DD5-C12DC1F104DA}"/>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A production plan sequences work, identifies checkpoints and notes demonstrations or permissions required. Review the plan when evidence shows a change is needed rather than improvising during an irreversible process.</a:t>
            </a:r>
          </a:p>
        </p:txBody>
      </p:sp>
      <p:sp>
        <p:nvSpPr>
          <p:cNvPr id="8" name="key-point">
            <a:extLst xmlns:a="http://schemas.openxmlformats.org/drawingml/2006/main">
              <a:ext uri="{FF2B5EF4-FFF2-40B4-BE49-F238E27FC236}">
                <a16:creationId xmlns:a16="http://schemas.microsoft.com/office/drawing/2014/main" id="{DF2DA47D-26C5-421D-94BB-CE312C39289A}"/>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6F2574D0-FA2A-4B2F-BA54-E50DFDDC45A4}"/>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Plans control production; folio evidence explains decisions.</a:t>
            </a:r>
          </a:p>
        </p:txBody>
      </p:sp>
      <p:sp>
        <p:nvSpPr>
          <p:cNvPr id="10" name="source-boundary">
            <a:extLst xmlns:a="http://schemas.openxmlformats.org/drawingml/2006/main">
              <a:ext uri="{FF2B5EF4-FFF2-40B4-BE49-F238E27FC236}">
                <a16:creationId xmlns:a16="http://schemas.microsoft.com/office/drawing/2014/main" id="{2591ABA1-CCC1-4F7E-8747-987B9083C94E}"/>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573736075"/>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9EC17B82-C32A-4B62-903F-D4B8180C3BEA}"/>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2</a:t>
            </a:r>
          </a:p>
        </p:txBody>
      </p:sp>
      <p:sp>
        <p:nvSpPr>
          <p:cNvPr id="2" name="slide-label">
            <a:extLst xmlns:a="http://schemas.openxmlformats.org/drawingml/2006/main">
              <a:ext uri="{FF2B5EF4-FFF2-40B4-BE49-F238E27FC236}">
                <a16:creationId xmlns:a16="http://schemas.microsoft.com/office/drawing/2014/main" id="{2DC44EBE-7A7E-4736-A5E9-B9430A834BCE}"/>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4</a:t>
            </a:r>
          </a:p>
        </p:txBody>
      </p:sp>
      <p:sp>
        <p:nvSpPr>
          <p:cNvPr id="3" name="theory-title">
            <a:extLst xmlns:a="http://schemas.openxmlformats.org/drawingml/2006/main">
              <a:ext uri="{FF2B5EF4-FFF2-40B4-BE49-F238E27FC236}">
                <a16:creationId xmlns:a16="http://schemas.microsoft.com/office/drawing/2014/main" id="{2B89ABB2-45B1-440A-A0DE-E4565175B57A}"/>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Read the Fishing Rod Holder components drawing</a:t>
            </a:r>
          </a:p>
        </p:txBody>
      </p:sp>
      <p:sp>
        <p:nvSpPr>
          <p:cNvPr id="4" name="understand-label">
            <a:extLst xmlns:a="http://schemas.openxmlformats.org/drawingml/2006/main">
              <a:ext uri="{FF2B5EF4-FFF2-40B4-BE49-F238E27FC236}">
                <a16:creationId xmlns:a16="http://schemas.microsoft.com/office/drawing/2014/main" id="{FDF00795-6F08-4941-AFD3-18C95E4D4B38}"/>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D079A228-86BA-4F67-83E0-02CA6818C1FC}"/>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Begin by orienting the sheet so the title block and drawing title, “FISHING ROD HOLDER: COMPONENTS”, can be read normally. Scan the whole page before focusing on individual details. Identify the three named parts: ROD HOLDER, STAKE and ROTATION TAB. Then match each name to its related view or views by following the labels, shapes, dimensions and notes shown on the sheet. Because the drawing contains multiple views, do not assume two nearby shapes are separate parts until you have checked their labels and how the views relate.</a:t>
            </a:r>
          </a:p>
        </p:txBody>
      </p:sp>
      <p:sp>
        <p:nvSpPr>
          <p:cNvPr id="6" name="apply-label">
            <a:extLst xmlns:a="http://schemas.openxmlformats.org/drawingml/2006/main">
              <a:ext uri="{FF2B5EF4-FFF2-40B4-BE49-F238E27FC236}">
                <a16:creationId xmlns:a16="http://schemas.microsoft.com/office/drawing/2014/main" id="{FAF6A4CC-69FE-4E23-BF6E-5ADBCE6E4BE0}"/>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1F33F2DF-05F8-4E01-9BF7-DF3554B099CE}"/>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Read the printed information for each component carefully. The ROD HOLDER is labelled 50 nb. pipe, 1 off; the STAKE is labelled Ø12 black bar, 1 off; and the ROTATION TAB is labelled 25 x 5 flat, 1 off. Check both the material label and the quantity because they help define what belongs in the project. The sheet is marked NOT TO SCALE, so never measure the page to work out a size. Use only the printed dimensions and written notes, and ask the teacher about anything unclear, missing or apparently conflicting.</a:t>
            </a:r>
          </a:p>
        </p:txBody>
      </p:sp>
      <p:sp>
        <p:nvSpPr>
          <p:cNvPr id="8" name="key-point">
            <a:extLst xmlns:a="http://schemas.openxmlformats.org/drawingml/2006/main">
              <a:ext uri="{FF2B5EF4-FFF2-40B4-BE49-F238E27FC236}">
                <a16:creationId xmlns:a16="http://schemas.microsoft.com/office/drawing/2014/main" id="{E1059BF9-F097-4339-8490-D7AE4BC55C4F}"/>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4D099257-021E-4621-86D9-30A3BD8BC74F}"/>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Read, match, check and record before you mark.</a:t>
            </a:r>
          </a:p>
        </p:txBody>
      </p:sp>
      <p:sp>
        <p:nvSpPr>
          <p:cNvPr id="10" name="source-boundary">
            <a:extLst xmlns:a="http://schemas.openxmlformats.org/drawingml/2006/main">
              <a:ext uri="{FF2B5EF4-FFF2-40B4-BE49-F238E27FC236}">
                <a16:creationId xmlns:a16="http://schemas.microsoft.com/office/drawing/2014/main" id="{2A65A74B-32D8-4F9E-8409-CCCE10E2B096}"/>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236037283"/>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course-label">
            <a:extLst xmlns:a="http://schemas.openxmlformats.org/drawingml/2006/main">
              <a:ext uri="{FF2B5EF4-FFF2-40B4-BE49-F238E27FC236}">
                <a16:creationId xmlns:a16="http://schemas.microsoft.com/office/drawing/2014/main" id="{77D8BCAD-7245-404F-98A0-120BFA647B74}"/>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2</a:t>
            </a:r>
          </a:p>
        </p:txBody>
      </p:sp>
      <p:sp>
        <p:nvSpPr>
          <p:cNvPr id="2" name="slide-label">
            <a:extLst xmlns:a="http://schemas.openxmlformats.org/drawingml/2006/main">
              <a:ext uri="{FF2B5EF4-FFF2-40B4-BE49-F238E27FC236}">
                <a16:creationId xmlns:a16="http://schemas.microsoft.com/office/drawing/2014/main" id="{93E8D425-C1B4-48F4-8129-406D8C2CB455}"/>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SAVE EVIDENCE</a:t>
            </a:r>
          </a:p>
        </p:txBody>
      </p:sp>
      <p:sp>
        <p:nvSpPr>
          <p:cNvPr id="3" name="evidence-title">
            <a:extLst xmlns:a="http://schemas.openxmlformats.org/drawingml/2006/main">
              <a:ext uri="{FF2B5EF4-FFF2-40B4-BE49-F238E27FC236}">
                <a16:creationId xmlns:a16="http://schemas.microsoft.com/office/drawing/2014/main" id="{5AA37E70-D04C-4BA3-8F39-5B7E5002E173}"/>
              </a:ext>
            </a:extLst>
          </p:cNvPr>
          <p:cNvSpPr>
            <a:spLocks xmlns:a="http://schemas.openxmlformats.org/drawingml/2006/main" noGrp="1"/>
          </p:cNvSpPr>
          <p:nvPr/>
        </p:nvSpPr>
        <p:spPr>
          <a:xfrm xmlns:a="http://schemas.openxmlformats.org/drawingml/2006/main">
            <a:off x="685800" y="1000125"/>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a:solidFill>
                  <a:srgbClr val="10252B"/>
                </a:solidFill>
              </a:defRPr>
            </a:pPr>
            <a:r>
              <a:rPr sz="3300" b="1">
                <a:solidFill>
                  <a:srgbClr val="10252B"/>
                </a:solidFill>
              </a:rPr>
              <a:t>Explain your thinking</a:t>
            </a:r>
          </a:p>
        </p:txBody>
      </p:sp>
      <p:sp>
        <p:nvSpPr>
          <p:cNvPr id="4" name="evidence-prompt">
            <a:extLst xmlns:a="http://schemas.openxmlformats.org/drawingml/2006/main">
              <a:ext uri="{FF2B5EF4-FFF2-40B4-BE49-F238E27FC236}">
                <a16:creationId xmlns:a16="http://schemas.microsoft.com/office/drawing/2014/main" id="{A2D86D3E-1BCA-4A56-9853-E4FB03F920BF}"/>
              </a:ext>
            </a:extLst>
          </p:cNvPr>
          <p:cNvSpPr>
            <a:spLocks xmlns:a="http://schemas.openxmlformats.org/drawingml/2006/main" noGrp="1"/>
          </p:cNvSpPr>
          <p:nvPr/>
        </p:nvSpPr>
        <p:spPr>
          <a:xfrm xmlns:a="http://schemas.openxmlformats.org/drawingml/2006/main">
            <a:off x="685800" y="1962150"/>
            <a:ext cx="5000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10252B"/>
                </a:solidFill>
              </a:defRPr>
            </a:pPr>
            <a:r>
              <a:rPr sz="1800">
                <a:solidFill>
                  <a:srgbClr val="10252B"/>
                </a:solidFill>
              </a:rPr>
              <a:t>Using the teacher-issued plans, identify the selected metal for one project part and justify the choice by referring to function, fabrication, corrosion, availability and finish.</a:t>
            </a:r>
          </a:p>
        </p:txBody>
      </p:sp>
      <p:sp>
        <p:nvSpPr>
          <p:cNvPr id="5" name="evidence-reminder">
            <a:extLst xmlns:a="http://schemas.openxmlformats.org/drawingml/2006/main">
              <a:ext uri="{FF2B5EF4-FFF2-40B4-BE49-F238E27FC236}">
                <a16:creationId xmlns:a16="http://schemas.microsoft.com/office/drawing/2014/main" id="{FC667006-814A-4FF5-B78A-B68F212F787D}"/>
              </a:ext>
            </a:extLst>
          </p:cNvPr>
          <p:cNvSpPr>
            <a:spLocks xmlns:a="http://schemas.openxmlformats.org/drawingml/2006/main" noGrp="1"/>
          </p:cNvSpPr>
          <p:nvPr/>
        </p:nvSpPr>
        <p:spPr>
          <a:xfrm xmlns:a="http://schemas.openxmlformats.org/drawingml/2006/main">
            <a:off x="685800" y="4267200"/>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4F5D"/>
                </a:solidFill>
              </a:defRPr>
            </a:pPr>
            <a:r>
              <a:rPr sz="1500" b="1">
                <a:solidFill>
                  <a:srgbClr val="174F5D"/>
                </a:solidFill>
              </a:rPr>
              <a:t>Use your own project evidence. Save or print your response as directed by your teacher.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0b7c8a846484d43"/>
          <a:srcRect xmlns:a="http://schemas.openxmlformats.org/drawingml/2006/main" l="13761" t="0" r="13761" b="0"/>
          <a:stretch xmlns:a="http://schemas.openxmlformats.org/drawingml/2006/main">
            <a:fillRect l="0" t="0" r="0" b="0"/>
          </a:stretch>
        </p:blipFill>
        <p:spPr>
          <a:xfrm xmlns:a="http://schemas.openxmlformats.org/drawingml/2006/main">
            <a:off x="6477000" y="1276350"/>
            <a:ext cx="5029200" cy="3905250"/>
          </a:xfrm>
          <a:prstGeom xmlns:a="http://schemas.openxmlformats.org/drawingml/2006/main" prst="roundRect">
            <a:avLst>
              <a:gd name="adj" fmla="val 2927"/>
            </a:avLst>
          </a:prstGeom>
        </p:spPr>
      </p:pic>
      <p:sp>
        <p:nvSpPr>
          <p:cNvPr id="7" name="completion">
            <a:extLst xmlns:a="http://schemas.openxmlformats.org/drawingml/2006/main">
              <a:ext uri="{FF2B5EF4-FFF2-40B4-BE49-F238E27FC236}">
                <a16:creationId xmlns:a16="http://schemas.microsoft.com/office/drawing/2014/main" id="{EFF210B3-F59D-45D0-A04D-1E014FEE0B89}"/>
              </a:ext>
            </a:extLst>
          </p:cNvPr>
          <p:cNvSpPr>
            <a:spLocks xmlns:a="http://schemas.openxmlformats.org/drawingml/2006/main" noGrp="1"/>
          </p:cNvSpPr>
          <p:nvPr/>
        </p:nvSpPr>
        <p:spPr>
          <a:xfrm xmlns:a="http://schemas.openxmlformats.org/drawingml/2006/main">
            <a:off x="6477000" y="5467350"/>
            <a:ext cx="502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Complete the checks and written response on the course website.</a:t>
            </a:r>
          </a:p>
        </p:txBody>
      </p:sp>
      <p:sp>
        <p:nvSpPr>
          <p:cNvPr id="8" name="source-boundary">
            <a:extLst xmlns:a="http://schemas.openxmlformats.org/drawingml/2006/main">
              <a:ext uri="{FF2B5EF4-FFF2-40B4-BE49-F238E27FC236}">
                <a16:creationId xmlns:a16="http://schemas.microsoft.com/office/drawing/2014/main" id="{4B48BF8D-C71C-4CD9-8547-EF4D92F37683}"/>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0872844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2026-08-15T12:46:26.8640000Z</dcterms:created>
  <dcterms:modified xsi:type="dcterms:W3CDTF">2026-08-15T12:46:26.8640000Z</dcterms:modified>
</coreProperties>
</file>